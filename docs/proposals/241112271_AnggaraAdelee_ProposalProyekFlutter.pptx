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2"/>
  </p:sldMasterIdLst>
  <p:notesMasterIdLst>
    <p:notesMasterId r:id="rId21"/>
  </p:notesMasterIdLst>
  <p:sldIdLst>
    <p:sldId id="257" r:id="rId3"/>
    <p:sldId id="258" r:id="rId4"/>
    <p:sldId id="259" r:id="rId5"/>
    <p:sldId id="260" r:id="rId6"/>
    <p:sldId id="261" r:id="rId7"/>
    <p:sldId id="262" r:id="rId8"/>
    <p:sldId id="263" r:id="rId9"/>
    <p:sldId id="264" r:id="rId26"/>
    <p:sldId id="265" r:id="rId27"/>
    <p:sldId id="266" r:id="rId28"/>
    <p:sldId id="267" r:id="rId29"/>
    <p:sldId id="268" r:id="rId30"/>
    <p:sldId id="269" r:id="rId31"/>
    <p:sldId id="270" r:id="rId32"/>
    <p:sldId id="271" r:id="rId33"/>
    <p:sldId id="272" r:id="rId3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6" d="100"/>
          <a:sy n="76" d="100"/>
        </p:scale>
        <p:origin x="29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slide" Target="slides/slide8.xml"/><Relationship Id="rId27" Type="http://schemas.openxmlformats.org/officeDocument/2006/relationships/slide" Target="slides/slide9.xml"/><Relationship Id="rId28" Type="http://schemas.openxmlformats.org/officeDocument/2006/relationships/slide" Target="slides/slide10.xml"/><Relationship Id="rId29" Type="http://schemas.openxmlformats.org/officeDocument/2006/relationships/slide" Target="slides/slide11.xml"/><Relationship Id="rId30" Type="http://schemas.openxmlformats.org/officeDocument/2006/relationships/slide" Target="slides/slide12.xml"/><Relationship Id="rId31" Type="http://schemas.openxmlformats.org/officeDocument/2006/relationships/slide" Target="slides/slide13.xml"/><Relationship Id="rId32" Type="http://schemas.openxmlformats.org/officeDocument/2006/relationships/slide" Target="slides/slide14.xml"/><Relationship Id="rId33" Type="http://schemas.openxmlformats.org/officeDocument/2006/relationships/slide" Target="slides/slide15.xml"/><Relationship Id="rId34"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848"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1048849"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9/26/2026</a:t>
            </a:fld>
            <a:endParaRPr lang="en-US"/>
          </a:p>
        </p:txBody>
      </p:sp>
      <p:sp>
        <p:nvSpPr>
          <p:cNvPr id="1048850"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48851"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52"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048853"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Slide Image Placeholder 1"/>
          <p:cNvSpPr>
            <a:spLocks noGrp="1" noRot="1" noChangeAspect="1"/>
          </p:cNvSpPr>
          <p:nvPr>
            <p:ph type="sldImg"/>
          </p:nvPr>
        </p:nvSpPr>
        <p:spPr/>
      </p:sp>
      <p:sp>
        <p:nvSpPr>
          <p:cNvPr id="1048595" name="Notes Placeholder 2"/>
          <p:cNvSpPr>
            <a:spLocks noGrp="1"/>
          </p:cNvSpPr>
          <p:nvPr>
            <p:ph type="body" idx="1"/>
          </p:nvPr>
        </p:nvSpPr>
        <p:spPr/>
        <p:txBody>
          <a:bodyPr/>
          <a:lstStyle/>
          <a:p>
            <a:endParaRPr lang="en-US" dirty="0"/>
          </a:p>
        </p:txBody>
      </p:sp>
      <p:sp>
        <p:nvSpPr>
          <p:cNvPr id="1048596"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2" name="Slide Image Placeholder 1"/>
          <p:cNvSpPr>
            <a:spLocks noGrp="1" noRot="1" noChangeAspect="1"/>
          </p:cNvSpPr>
          <p:nvPr>
            <p:ph type="sldImg"/>
          </p:nvPr>
        </p:nvSpPr>
        <p:spPr/>
      </p:sp>
      <p:sp>
        <p:nvSpPr>
          <p:cNvPr id="1048623" name="Notes Placeholder 2"/>
          <p:cNvSpPr>
            <a:spLocks noGrp="1"/>
          </p:cNvSpPr>
          <p:nvPr>
            <p:ph type="body" idx="1"/>
          </p:nvPr>
        </p:nvSpPr>
        <p:spPr/>
        <p:txBody>
          <a:bodyPr/>
          <a:lstStyle/>
          <a:p>
            <a:endParaRPr lang="en-US" dirty="0"/>
          </a:p>
        </p:txBody>
      </p:sp>
      <p:sp>
        <p:nvSpPr>
          <p:cNvPr id="104862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6" name="Slide Image Placeholder 1"/>
          <p:cNvSpPr>
            <a:spLocks noGrp="1" noRot="1" noChangeAspect="1"/>
          </p:cNvSpPr>
          <p:nvPr>
            <p:ph type="sldImg"/>
          </p:nvPr>
        </p:nvSpPr>
        <p:spPr/>
      </p:sp>
      <p:sp>
        <p:nvSpPr>
          <p:cNvPr id="1048647" name="Notes Placeholder 2"/>
          <p:cNvSpPr>
            <a:spLocks noGrp="1"/>
          </p:cNvSpPr>
          <p:nvPr>
            <p:ph type="body" idx="1"/>
          </p:nvPr>
        </p:nvSpPr>
        <p:spPr/>
        <p:txBody>
          <a:bodyPr/>
          <a:lstStyle/>
          <a:p>
            <a:endParaRPr lang="en-US" dirty="0"/>
          </a:p>
        </p:txBody>
      </p:sp>
      <p:sp>
        <p:nvSpPr>
          <p:cNvPr id="1048648"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5" name="Slide Image Placeholder 1"/>
          <p:cNvSpPr>
            <a:spLocks noGrp="1" noRot="1" noChangeAspect="1"/>
          </p:cNvSpPr>
          <p:nvPr>
            <p:ph type="sldImg"/>
          </p:nvPr>
        </p:nvSpPr>
        <p:spPr/>
      </p:sp>
      <p:sp>
        <p:nvSpPr>
          <p:cNvPr id="1048676" name="Notes Placeholder 2"/>
          <p:cNvSpPr>
            <a:spLocks noGrp="1"/>
          </p:cNvSpPr>
          <p:nvPr>
            <p:ph type="body" idx="1"/>
          </p:nvPr>
        </p:nvSpPr>
        <p:spPr/>
        <p:txBody>
          <a:bodyPr/>
          <a:lstStyle/>
          <a:p>
            <a:endParaRPr lang="en-US" dirty="0"/>
          </a:p>
        </p:txBody>
      </p:sp>
      <p:sp>
        <p:nvSpPr>
          <p:cNvPr id="1048677"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7" name="Slide Image Placeholder 1"/>
          <p:cNvSpPr>
            <a:spLocks noGrp="1" noRot="1" noChangeAspect="1"/>
          </p:cNvSpPr>
          <p:nvPr>
            <p:ph type="sldImg"/>
          </p:nvPr>
        </p:nvSpPr>
        <p:spPr/>
      </p:sp>
      <p:sp>
        <p:nvSpPr>
          <p:cNvPr id="1048708" name="Notes Placeholder 2"/>
          <p:cNvSpPr>
            <a:spLocks noGrp="1"/>
          </p:cNvSpPr>
          <p:nvPr>
            <p:ph type="body" idx="1"/>
          </p:nvPr>
        </p:nvSpPr>
        <p:spPr/>
        <p:txBody>
          <a:bodyPr/>
          <a:lstStyle/>
          <a:p>
            <a:endParaRPr lang="en-US" dirty="0"/>
          </a:p>
        </p:txBody>
      </p:sp>
      <p:sp>
        <p:nvSpPr>
          <p:cNvPr id="1048709"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9" name="Slide Image Placeholder 1"/>
          <p:cNvSpPr>
            <a:spLocks noGrp="1" noRot="1" noChangeAspect="1"/>
          </p:cNvSpPr>
          <p:nvPr>
            <p:ph type="sldImg"/>
          </p:nvPr>
        </p:nvSpPr>
        <p:spPr/>
      </p:sp>
      <p:sp>
        <p:nvSpPr>
          <p:cNvPr id="1048730" name="Notes Placeholder 2"/>
          <p:cNvSpPr>
            <a:spLocks noGrp="1"/>
          </p:cNvSpPr>
          <p:nvPr>
            <p:ph type="body" idx="1"/>
          </p:nvPr>
        </p:nvSpPr>
        <p:spPr/>
        <p:txBody>
          <a:bodyPr/>
          <a:lstStyle/>
          <a:p>
            <a:endParaRPr lang="en-US" dirty="0"/>
          </a:p>
        </p:txBody>
      </p:sp>
      <p:sp>
        <p:nvSpPr>
          <p:cNvPr id="1048731"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7" name="Slide Image Placeholder 1"/>
          <p:cNvSpPr>
            <a:spLocks noGrp="1" noRot="1" noChangeAspect="1"/>
          </p:cNvSpPr>
          <p:nvPr>
            <p:ph type="sldImg"/>
          </p:nvPr>
        </p:nvSpPr>
        <p:spPr/>
      </p:sp>
      <p:sp>
        <p:nvSpPr>
          <p:cNvPr id="1048778" name="Notes Placeholder 2"/>
          <p:cNvSpPr>
            <a:spLocks noGrp="1"/>
          </p:cNvSpPr>
          <p:nvPr>
            <p:ph type="body" idx="1"/>
          </p:nvPr>
        </p:nvSpPr>
        <p:spPr/>
        <p:txBody>
          <a:bodyPr/>
          <a:lstStyle/>
          <a:p>
            <a:endParaRPr lang="en-US" dirty="0"/>
          </a:p>
        </p:txBody>
      </p:sp>
      <p:sp>
        <p:nvSpPr>
          <p:cNvPr id="1048779"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2" name="Slide Image Placeholder 1"/>
          <p:cNvSpPr>
            <a:spLocks noGrp="1" noRot="1" noChangeAspect="1"/>
          </p:cNvSpPr>
          <p:nvPr>
            <p:ph type="sldImg"/>
          </p:nvPr>
        </p:nvSpPr>
        <p:spPr/>
      </p:sp>
      <p:sp>
        <p:nvSpPr>
          <p:cNvPr id="1048803" name="Notes Placeholder 2"/>
          <p:cNvSpPr>
            <a:spLocks noGrp="1"/>
          </p:cNvSpPr>
          <p:nvPr>
            <p:ph type="body" idx="1"/>
          </p:nvPr>
        </p:nvSpPr>
        <p:spPr/>
        <p:txBody>
          <a:bodyPr/>
          <a:lstStyle/>
          <a:p>
            <a:endParaRPr lang="en-US" dirty="0"/>
          </a:p>
        </p:txBody>
      </p:sp>
      <p:sp>
        <p:nvSpPr>
          <p:cNvPr id="104880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5" name="Slide Image Placeholder 1"/>
          <p:cNvSpPr>
            <a:spLocks noGrp="1" noRot="1" noChangeAspect="1"/>
          </p:cNvSpPr>
          <p:nvPr>
            <p:ph type="sldImg"/>
          </p:nvPr>
        </p:nvSpPr>
        <p:spPr/>
      </p:sp>
      <p:sp>
        <p:nvSpPr>
          <p:cNvPr id="1048846" name="Notes Placeholder 2"/>
          <p:cNvSpPr>
            <a:spLocks noGrp="1"/>
          </p:cNvSpPr>
          <p:nvPr>
            <p:ph type="body" idx="1"/>
          </p:nvPr>
        </p:nvSpPr>
        <p:spPr/>
        <p:txBody>
          <a:bodyPr/>
          <a:lstStyle/>
          <a:p>
            <a:endParaRPr lang="en-US" dirty="0"/>
          </a:p>
        </p:txBody>
      </p:sp>
      <p:sp>
        <p:nvSpPr>
          <p:cNvPr id="1048847"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jpe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1048576" name="Shape 0"/>
          <p:cNvSpPr/>
          <p:nvPr/>
        </p:nvSpPr>
        <p:spPr>
          <a:xfrm>
            <a:off x="0" y="0"/>
            <a:ext cx="12188952" cy="6858000"/>
          </a:xfrm>
          <a:prstGeom prst="rect">
            <a:avLst/>
          </a:prstGeom>
          <a:solidFill>
            <a:srgbClr val="16281D"/>
          </a:solidFill>
        </p:spPr>
      </p:sp>
      <p:sp>
        <p:nvSpPr>
          <p:cNvPr id="1048577" name="Shape 1"/>
          <p:cNvSpPr/>
          <p:nvPr/>
        </p:nvSpPr>
        <p:spPr>
          <a:xfrm>
            <a:off x="0" y="0"/>
            <a:ext cx="4114800" cy="6858000"/>
          </a:xfrm>
          <a:prstGeom prst="rect">
            <a:avLst/>
          </a:prstGeom>
          <a:solidFill>
            <a:srgbClr val="234A32"/>
          </a:solidFill>
        </p:spPr>
      </p:sp>
      <p:sp>
        <p:nvSpPr>
          <p:cNvPr id="1048578" name="Shape 2"/>
          <p:cNvSpPr/>
          <p:nvPr/>
        </p:nvSpPr>
        <p:spPr>
          <a:xfrm>
            <a:off x="-822960" y="-822960"/>
            <a:ext cx="3291840" cy="3291840"/>
          </a:xfrm>
          <a:prstGeom prst="ellipse">
            <a:avLst/>
          </a:prstGeom>
          <a:solidFill>
            <a:srgbClr val="4C8C5C">
              <a:alpha val="35000"/>
            </a:srgbClr>
          </a:solidFill>
        </p:spPr>
      </p:sp>
      <p:sp>
        <p:nvSpPr>
          <p:cNvPr id="1048579" name="Shape 3"/>
          <p:cNvSpPr/>
          <p:nvPr/>
        </p:nvSpPr>
        <p:spPr>
          <a:xfrm>
            <a:off x="2377440" y="4846320"/>
            <a:ext cx="2926080" cy="2926080"/>
          </a:xfrm>
          <a:prstGeom prst="ellipse">
            <a:avLst/>
          </a:prstGeom>
          <a:solidFill>
            <a:srgbClr val="D97B2E">
              <a:alpha val="30000"/>
            </a:srgbClr>
          </a:solidFill>
        </p:spPr>
      </p:sp>
      <p:sp>
        <p:nvSpPr>
          <p:cNvPr id="1048580" name="Shape 4"/>
          <p:cNvSpPr/>
          <p:nvPr/>
        </p:nvSpPr>
        <p:spPr>
          <a:xfrm>
            <a:off x="502920" y="2331720"/>
            <a:ext cx="3108960" cy="3108960"/>
          </a:xfrm>
          <a:prstGeom prst="ellipse">
            <a:avLst/>
          </a:prstGeom>
          <a:solidFill>
            <a:srgbClr val="16281D">
              <a:alpha val="85000"/>
            </a:srgbClr>
          </a:solidFill>
        </p:spPr>
      </p:sp>
      <p:sp>
        <p:nvSpPr>
          <p:cNvPr id="1048581" name="Shape 5"/>
          <p:cNvSpPr/>
          <p:nvPr/>
        </p:nvSpPr>
        <p:spPr>
          <a:xfrm>
            <a:off x="1280160" y="2606040"/>
            <a:ext cx="1463040" cy="1463040"/>
          </a:xfrm>
          <a:prstGeom prst="ellipse">
            <a:avLst/>
          </a:prstGeom>
          <a:solidFill>
            <a:srgbClr val="D97B2E"/>
          </a:solidFill>
        </p:spPr>
      </p:sp>
      <p:sp>
        <p:nvSpPr>
          <p:cNvPr id="1048582" name="Text 6"/>
          <p:cNvSpPr txBox="1"/>
          <p:nvPr/>
        </p:nvSpPr>
        <p:spPr>
          <a:xfrm>
            <a:off x="1280160" y="2606040"/>
            <a:ext cx="1463040" cy="1463040"/>
          </a:xfrm>
          <a:prstGeom prst="rect">
            <a:avLst/>
          </a:prstGeom>
          <a:noFill/>
        </p:spPr>
        <p:txBody>
          <a:bodyPr wrap="square" lIns="0" tIns="0" rIns="0" bIns="0" rtlCol="0" anchor="ctr"/>
          <a:lstStyle/>
          <a:p>
            <a:pPr marL="0" indent="0" algn="ctr">
              <a:buNone/>
            </a:pPr>
            <a:r>
              <a:rPr lang="en-US" sz="4600" dirty="0">
                <a:solidFill>
                  <a:srgbClr val="000000"/>
                </a:solidFill>
              </a:rPr>
              <a:t>🌍</a:t>
            </a:r>
            <a:endParaRPr lang="en-US" sz="4600" dirty="0"/>
          </a:p>
        </p:txBody>
      </p:sp>
      <p:sp>
        <p:nvSpPr>
          <p:cNvPr id="1048583" name="Text 7"/>
          <p:cNvSpPr txBox="1"/>
          <p:nvPr/>
        </p:nvSpPr>
        <p:spPr>
          <a:xfrm>
            <a:off x="2331720" y="2331720"/>
            <a:ext cx="822960" cy="822960"/>
          </a:xfrm>
          <a:prstGeom prst="rect">
            <a:avLst/>
          </a:prstGeom>
          <a:noFill/>
        </p:spPr>
        <p:txBody>
          <a:bodyPr wrap="square" lIns="0" tIns="0" rIns="0" bIns="0" rtlCol="0" anchor="ctr"/>
          <a:lstStyle/>
          <a:p>
            <a:pPr marL="0" indent="0">
              <a:buNone/>
            </a:pPr>
            <a:r>
              <a:rPr lang="en-US" sz="3000" dirty="0">
                <a:solidFill>
                  <a:srgbClr val="000000"/>
                </a:solidFill>
              </a:rPr>
              <a:t>🍃</a:t>
            </a:r>
            <a:endParaRPr lang="en-US" sz="3000" dirty="0"/>
          </a:p>
        </p:txBody>
      </p:sp>
      <p:sp>
        <p:nvSpPr>
          <p:cNvPr id="1048584" name="Text 8"/>
          <p:cNvSpPr txBox="1"/>
          <p:nvPr/>
        </p:nvSpPr>
        <p:spPr>
          <a:xfrm>
            <a:off x="502920" y="3429000"/>
            <a:ext cx="731520" cy="731520"/>
          </a:xfrm>
          <a:prstGeom prst="rect">
            <a:avLst/>
          </a:prstGeom>
          <a:noFill/>
        </p:spPr>
        <p:txBody>
          <a:bodyPr wrap="square" lIns="0" tIns="0" rIns="0" bIns="0" rtlCol="0" anchor="ctr"/>
          <a:lstStyle/>
          <a:p>
            <a:pPr marL="0" indent="0">
              <a:buNone/>
            </a:pPr>
            <a:r>
              <a:rPr lang="en-US" sz="2400" dirty="0">
                <a:solidFill>
                  <a:srgbClr val="000000"/>
                </a:solidFill>
              </a:rPr>
              <a:t>🍃</a:t>
            </a:r>
            <a:endParaRPr lang="en-US" sz="2400" dirty="0"/>
          </a:p>
        </p:txBody>
      </p:sp>
      <p:sp>
        <p:nvSpPr>
          <p:cNvPr id="1048585" name="Text 9"/>
          <p:cNvSpPr txBox="1"/>
          <p:nvPr/>
        </p:nvSpPr>
        <p:spPr>
          <a:xfrm>
            <a:off x="548640" y="5806440"/>
            <a:ext cx="3017520" cy="274320"/>
          </a:xfrm>
          <a:prstGeom prst="rect">
            <a:avLst/>
          </a:prstGeom>
          <a:noFill/>
        </p:spPr>
        <p:txBody>
          <a:bodyPr wrap="square" lIns="0" tIns="0" rIns="0" bIns="0" rtlCol="0" anchor="ctr"/>
          <a:lstStyle/>
          <a:p>
            <a:pPr marL="0" indent="0">
              <a:buNone/>
            </a:pPr>
            <a:r>
              <a:rPr lang="en-US" sz="1050" b="1" kern="0" spc="200" dirty="0">
                <a:solidFill>
                  <a:srgbClr val="F6D9B8"/>
                </a:solidFill>
                <a:latin typeface="Calibri" pitchFamily="34" charset="0"/>
                <a:ea typeface="Calibri" pitchFamily="34" charset="-122"/>
                <a:cs typeface="Calibri" pitchFamily="34" charset="-120"/>
              </a:rPr>
              <a:t>MATA KULIAH</a:t>
            </a:r>
            <a:endParaRPr lang="en-US" sz="1050" dirty="0"/>
          </a:p>
        </p:txBody>
      </p:sp>
      <p:sp>
        <p:nvSpPr>
          <p:cNvPr id="1048586" name="Text 10"/>
          <p:cNvSpPr txBox="1"/>
          <p:nvPr/>
        </p:nvSpPr>
        <p:spPr>
          <a:xfrm>
            <a:off x="548640" y="6053328"/>
            <a:ext cx="3291840" cy="640080"/>
          </a:xfrm>
          <a:prstGeom prst="rect">
            <a:avLst/>
          </a:prstGeom>
          <a:noFill/>
        </p:spPr>
        <p:txBody>
          <a:bodyPr wrap="square" lIns="0" tIns="0" rIns="0" bIns="0" rtlCol="0" anchor="ctr"/>
          <a:lstStyle/>
          <a:p>
            <a:pPr marL="0" indent="0">
              <a:lnSpc>
                <a:spcPct val="110000"/>
              </a:lnSpc>
              <a:buNone/>
            </a:pPr>
            <a:r>
              <a:rPr lang="en-US" sz="1250" dirty="0">
                <a:solidFill>
                  <a:srgbClr val="FFFFFF"/>
                </a:solidFill>
                <a:latin typeface="Calibri" pitchFamily="34" charset="0"/>
                <a:ea typeface="Calibri" pitchFamily="34" charset="-122"/>
                <a:cs typeface="Calibri" pitchFamily="34" charset="-120"/>
              </a:rPr>
              <a:t>Pengembangan Aplikasi</a:t>
            </a:r>
            <a:endParaRPr lang="en-US" sz="1250" dirty="0"/>
          </a:p>
          <a:p>
            <a:pPr marL="0" indent="0">
              <a:lnSpc>
                <a:spcPct val="110000"/>
              </a:lnSpc>
              <a:buNone/>
            </a:pPr>
            <a:r>
              <a:rPr lang="en-US" sz="1250" dirty="0">
                <a:solidFill>
                  <a:srgbClr val="FFFFFF"/>
                </a:solidFill>
                <a:latin typeface="Calibri" pitchFamily="34" charset="0"/>
                <a:ea typeface="Calibri" pitchFamily="34" charset="-122"/>
                <a:cs typeface="Calibri" pitchFamily="34" charset="-120"/>
              </a:rPr>
              <a:t>Mobile Front-End</a:t>
            </a:r>
            <a:endParaRPr lang="en-US" sz="1250" dirty="0"/>
          </a:p>
        </p:txBody>
      </p:sp>
      <p:sp>
        <p:nvSpPr>
          <p:cNvPr id="1048587" name="Text 11"/>
          <p:cNvSpPr txBox="1"/>
          <p:nvPr/>
        </p:nvSpPr>
        <p:spPr>
          <a:xfrm>
            <a:off x="4572000" y="960120"/>
            <a:ext cx="6949440" cy="411480"/>
          </a:xfrm>
          <a:prstGeom prst="rect">
            <a:avLst/>
          </a:prstGeom>
          <a:noFill/>
        </p:spPr>
        <p:txBody>
          <a:bodyPr wrap="square" lIns="0" tIns="0" rIns="0" bIns="0" rtlCol="0" anchor="ctr"/>
          <a:lstStyle/>
          <a:p>
            <a:pPr marL="0" indent="0">
              <a:buNone/>
            </a:pPr>
            <a:r>
              <a:rPr lang="en-US" sz="1400" b="1" kern="0" spc="300" dirty="0">
                <a:solidFill>
                  <a:srgbClr val="D97B2E"/>
                </a:solidFill>
                <a:latin typeface="Calibri" pitchFamily="34" charset="0"/>
                <a:ea typeface="Calibri" pitchFamily="34" charset="-122"/>
                <a:cs typeface="Calibri" pitchFamily="34" charset="-120"/>
              </a:rPr>
              <a:t>PROPOSAL PROYEK FLUTTER</a:t>
            </a:r>
            <a:endParaRPr lang="en-US" sz="1400" dirty="0"/>
          </a:p>
        </p:txBody>
      </p:sp>
      <p:sp>
        <p:nvSpPr>
          <p:cNvPr id="1048588" name="Text 12"/>
          <p:cNvSpPr txBox="1"/>
          <p:nvPr/>
        </p:nvSpPr>
        <p:spPr>
          <a:xfrm>
            <a:off x="4526280" y="1371600"/>
            <a:ext cx="7223760" cy="1371600"/>
          </a:xfrm>
          <a:prstGeom prst="rect">
            <a:avLst/>
          </a:prstGeom>
          <a:noFill/>
        </p:spPr>
        <p:txBody>
          <a:bodyPr wrap="square" lIns="0" tIns="0" rIns="0" bIns="0" rtlCol="0" anchor="ctr"/>
          <a:lstStyle/>
          <a:p>
            <a:pPr marL="0" indent="0">
              <a:buNone/>
            </a:pPr>
            <a:r>
              <a:rPr lang="en-US" sz="6000" b="1" dirty="0">
                <a:solidFill>
                  <a:srgbClr val="F4EFE4"/>
                </a:solidFill>
                <a:latin typeface="Bookman Old Style" pitchFamily="34" charset="0"/>
                <a:ea typeface="Bookman Old Style" pitchFamily="34" charset="-122"/>
                <a:cs typeface="Bookman Old Style" pitchFamily="34" charset="-120"/>
              </a:rPr>
              <a:t>EcoTrack</a:t>
            </a:r>
            <a:endParaRPr lang="en-US" sz="6000" dirty="0"/>
          </a:p>
        </p:txBody>
      </p:sp>
      <p:sp>
        <p:nvSpPr>
          <p:cNvPr id="1048589" name="Text 13"/>
          <p:cNvSpPr txBox="1"/>
          <p:nvPr/>
        </p:nvSpPr>
        <p:spPr>
          <a:xfrm>
            <a:off x="4572000" y="2697480"/>
            <a:ext cx="6766560" cy="457200"/>
          </a:xfrm>
          <a:prstGeom prst="rect">
            <a:avLst/>
          </a:prstGeom>
          <a:noFill/>
        </p:spPr>
        <p:txBody>
          <a:bodyPr wrap="square" lIns="0" tIns="0" rIns="0" bIns="0" rtlCol="0" anchor="ctr"/>
          <a:lstStyle/>
          <a:p>
            <a:pPr marL="0" indent="0">
              <a:buNone/>
            </a:pPr>
            <a:r>
              <a:rPr lang="en-US" sz="1600" i="1" dirty="0">
                <a:solidFill>
                  <a:srgbClr val="F6D9B8"/>
                </a:solidFill>
                <a:latin typeface="Calibri" pitchFamily="34" charset="0"/>
                <a:ea typeface="Calibri" pitchFamily="34" charset="-122"/>
                <a:cs typeface="Calibri" pitchFamily="34" charset="-120"/>
              </a:rPr>
              <a:t>Track Your Impact, Change Your Future</a:t>
            </a:r>
            <a:endParaRPr lang="en-US" sz="1600" dirty="0"/>
          </a:p>
        </p:txBody>
      </p:sp>
      <p:sp>
        <p:nvSpPr>
          <p:cNvPr id="1048590" name="Text 14"/>
          <p:cNvSpPr txBox="1"/>
          <p:nvPr/>
        </p:nvSpPr>
        <p:spPr>
          <a:xfrm>
            <a:off x="4572000" y="3337560"/>
            <a:ext cx="6675120" cy="868680"/>
          </a:xfrm>
          <a:prstGeom prst="rect">
            <a:avLst/>
          </a:prstGeom>
          <a:noFill/>
        </p:spPr>
        <p:txBody>
          <a:bodyPr wrap="square" lIns="0" tIns="0" rIns="0" bIns="0" rtlCol="0" anchor="ctr"/>
          <a:lstStyle/>
          <a:p>
            <a:pPr marL="0" indent="0">
              <a:lnSpc>
                <a:spcPct val="125000"/>
              </a:lnSpc>
              <a:buNone/>
            </a:pPr>
            <a:r>
              <a:rPr lang="en-US" sz="1350" dirty="0">
                <a:solidFill>
                  <a:srgbClr val="D8E3D9"/>
                </a:solidFill>
                <a:latin typeface="Calibri" pitchFamily="34" charset="0"/>
                <a:ea typeface="Calibri" pitchFamily="34" charset="-122"/>
                <a:cs typeface="Calibri" pitchFamily="34" charset="-120"/>
              </a:rPr>
              <a:t>Aplikasi mobile berbasis SDG 13 — Climate Action, yang membantu pengguna mencatat aktivitas harian dan memahami estimasi jejak karbon pribadi mereka.</a:t>
            </a:r>
            <a:endParaRPr lang="en-US" sz="1350" dirty="0"/>
          </a:p>
        </p:txBody>
      </p:sp>
      <p:sp>
        <p:nvSpPr>
          <p:cNvPr id="1048591" name="Shape 15"/>
          <p:cNvSpPr/>
          <p:nvPr/>
        </p:nvSpPr>
        <p:spPr>
          <a:xfrm>
            <a:off x="4572000" y="4434840"/>
            <a:ext cx="6720840" cy="1783080"/>
          </a:xfrm>
          <a:prstGeom prst="roundRect">
            <a:avLst>
              <a:gd name="adj" fmla="val 5128"/>
            </a:avLst>
          </a:prstGeom>
          <a:solidFill>
            <a:srgbClr val="234A32"/>
          </a:solidFill>
          <a:ln w="12700">
            <a:solidFill>
              <a:srgbClr val="3C6B4A"/>
            </a:solidFill>
            <a:prstDash val="solid"/>
          </a:ln>
        </p:spPr>
      </p:sp>
      <p:sp>
        <p:nvSpPr>
          <p:cNvPr id="1048592" name="Text 16"/>
          <p:cNvSpPr txBox="1"/>
          <p:nvPr/>
        </p:nvSpPr>
        <p:spPr>
          <a:xfrm>
            <a:off x="4892040" y="4617720"/>
            <a:ext cx="6126480" cy="365760"/>
          </a:xfrm>
          <a:prstGeom prst="rect">
            <a:avLst/>
          </a:prstGeom>
          <a:noFill/>
        </p:spPr>
        <p:txBody>
          <a:bodyPr wrap="square" lIns="0" tIns="0" rIns="0" bIns="0" rtlCol="0" anchor="ctr"/>
          <a:lstStyle/>
          <a:p>
            <a:pPr marL="0" indent="0">
              <a:buNone/>
            </a:pPr>
            <a:r>
              <a:rPr lang="en-US" sz="1400" b="1" kern="0" spc="100" dirty="0">
                <a:solidFill>
                  <a:srgbClr val="F6D9B8"/>
                </a:solidFill>
                <a:latin typeface="Calibri" pitchFamily="34" charset="0"/>
                <a:ea typeface="Calibri" pitchFamily="34" charset="-122"/>
                <a:cs typeface="Calibri" pitchFamily="34" charset="-120"/>
              </a:rPr>
              <a:t>KELOMPOK  🌱  VISTA</a:t>
            </a:r>
            <a:endParaRPr lang="en-US" sz="1400" dirty="0"/>
          </a:p>
        </p:txBody>
      </p:sp>
      <p:sp>
        <p:nvSpPr>
          <p:cNvPr id="1048593" name="Text 17"/>
          <p:cNvSpPr txBox="1"/>
          <p:nvPr/>
        </p:nvSpPr>
        <p:spPr>
          <a:xfrm>
            <a:off x="4892040" y="5029200"/>
            <a:ext cx="6126480" cy="1097280"/>
          </a:xfrm>
          <a:prstGeom prst="rect">
            <a:avLst/>
          </a:prstGeom>
          <a:noFill/>
        </p:spPr>
        <p:txBody>
          <a:bodyPr wrap="square" lIns="0" tIns="0" rIns="0" bIns="0" rtlCol="0" anchor="ctr"/>
          <a:lstStyle/>
          <a:p>
            <a:pPr marL="0" indent="0">
              <a:lnSpc>
                <a:spcPct val="135000"/>
              </a:lnSpc>
              <a:buNone/>
            </a:pPr>
            <a:r>
              <a:rPr lang="en-US" sz="1250" b="1" dirty="0">
                <a:solidFill>
                  <a:srgbClr val="FFFFFF"/>
                </a:solidFill>
                <a:latin typeface="Calibri" pitchFamily="34" charset="0"/>
                <a:ea typeface="Calibri" pitchFamily="34" charset="-122"/>
                <a:cs typeface="Calibri" pitchFamily="34" charset="-120"/>
              </a:rPr>
              <a:t>Anggara Adelee</a:t>
            </a:r>
            <a:r>
              <a:rPr lang="en-US" sz="1250" dirty="0">
                <a:solidFill>
                  <a:srgbClr val="C9D6CB"/>
                </a:solidFill>
                <a:latin typeface="Calibri" pitchFamily="34" charset="0"/>
                <a:ea typeface="Calibri" pitchFamily="34" charset="-122"/>
                <a:cs typeface="Calibri" pitchFamily="34" charset="-120"/>
              </a:rPr>
              <a:t>  (241112271) — Ketua Kelompok
</a:t>
            </a:r>
            <a:r>
              <a:rPr lang="en-US" sz="1250" b="1" dirty="0">
                <a:solidFill>
                  <a:srgbClr val="FFFFFF"/>
                </a:solidFill>
                <a:latin typeface="Calibri" pitchFamily="34" charset="0"/>
                <a:ea typeface="Calibri" pitchFamily="34" charset="-122"/>
                <a:cs typeface="Calibri" pitchFamily="34" charset="-120"/>
              </a:rPr>
              <a:t>Devin Owen Sanusi</a:t>
            </a:r>
            <a:r>
              <a:rPr lang="en-US" sz="1250" dirty="0">
                <a:solidFill>
                  <a:srgbClr val="C9D6CB"/>
                </a:solidFill>
                <a:latin typeface="Calibri" pitchFamily="34" charset="0"/>
                <a:ea typeface="Calibri" pitchFamily="34" charset="-122"/>
                <a:cs typeface="Calibri" pitchFamily="34" charset="-120"/>
              </a:rPr>
              <a:t>  (241111093)
</a:t>
            </a:r>
            <a:r>
              <a:rPr lang="en-US" sz="1250" b="1" dirty="0">
                <a:solidFill>
                  <a:srgbClr val="FFFFFF"/>
                </a:solidFill>
                <a:latin typeface="Calibri" pitchFamily="34" charset="0"/>
                <a:ea typeface="Calibri" pitchFamily="34" charset="-122"/>
                <a:cs typeface="Calibri" pitchFamily="34" charset="-120"/>
              </a:rPr>
              <a:t>Kelvin Kurniawan</a:t>
            </a:r>
            <a:r>
              <a:rPr lang="en-US" sz="1250" dirty="0">
                <a:solidFill>
                  <a:srgbClr val="C9D6CB"/>
                </a:solidFill>
                <a:latin typeface="Calibri" pitchFamily="34" charset="0"/>
                <a:ea typeface="Calibri" pitchFamily="34" charset="-122"/>
                <a:cs typeface="Calibri" pitchFamily="34" charset="-120"/>
              </a:rPr>
              <a:t>  (241112232)</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1048597" name="Shape 0"/>
          <p:cNvSpPr/>
          <p:nvPr/>
        </p:nvSpPr>
        <p:spPr>
          <a:xfrm>
            <a:off x="0" y="0"/>
            <a:ext cx="12188952" cy="6858000"/>
          </a:xfrm>
          <a:prstGeom prst="rect">
            <a:avLst/>
          </a:prstGeom>
          <a:solidFill>
            <a:srgbClr val="FFFFFF"/>
          </a:solidFill>
        </p:spPr>
      </p:sp>
      <p:sp>
        <p:nvSpPr>
          <p:cNvPr id="1048598" name="Text 1"/>
          <p:cNvSpPr txBox="1"/>
          <p:nvPr/>
        </p:nvSpPr>
        <p:spPr>
          <a:xfrm>
            <a:off x="548640" y="320040"/>
            <a:ext cx="7315200" cy="365760"/>
          </a:xfrm>
          <a:prstGeom prst="rect">
            <a:avLst/>
          </a:prstGeom>
          <a:noFill/>
        </p:spPr>
        <p:txBody>
          <a:bodyPr wrap="square" lIns="0" tIns="0" rIns="0" bIns="0" rtlCol="0" anchor="ctr"/>
          <a:lstStyle/>
          <a:p>
            <a:pPr marL="0" indent="0">
              <a:buNone/>
            </a:pPr>
            <a:r>
              <a:rPr lang="en-US" sz="1200" b="1" kern="0" spc="200" dirty="0">
                <a:solidFill>
                  <a:srgbClr val="4C8C5C"/>
                </a:solidFill>
                <a:latin typeface="Calibri" pitchFamily="34" charset="0"/>
                <a:ea typeface="Calibri" pitchFamily="34" charset="-122"/>
                <a:cs typeface="Calibri" pitchFamily="34" charset="-120"/>
              </a:rPr>
              <a:t>01  —  SDG YANG DIPILIH</a:t>
            </a:r>
            <a:endParaRPr lang="en-US" sz="1200" dirty="0"/>
          </a:p>
        </p:txBody>
      </p:sp>
      <p:sp>
        <p:nvSpPr>
          <p:cNvPr id="1048599" name="Text 2"/>
          <p:cNvSpPr txBox="1"/>
          <p:nvPr/>
        </p:nvSpPr>
        <p:spPr>
          <a:xfrm>
            <a:off x="548640" y="777240"/>
            <a:ext cx="7772400" cy="731520"/>
          </a:xfrm>
          <a:prstGeom prst="rect">
            <a:avLst/>
          </a:prstGeom>
          <a:noFill/>
        </p:spPr>
        <p:txBody>
          <a:bodyPr wrap="square" lIns="0" tIns="0" rIns="0" bIns="0" rtlCol="0" anchor="ctr"/>
          <a:lstStyle/>
          <a:p>
            <a:pPr marL="0" indent="0">
              <a:buNone/>
            </a:pPr>
            <a:r>
              <a:rPr lang="en-US" sz="3200" b="1" dirty="0">
                <a:solidFill>
                  <a:srgbClr val="16281D"/>
                </a:solidFill>
                <a:latin typeface="Bookman Old Style" pitchFamily="34" charset="0"/>
                <a:ea typeface="Bookman Old Style" pitchFamily="34" charset="-122"/>
                <a:cs typeface="Bookman Old Style" pitchFamily="34" charset="-120"/>
              </a:rPr>
              <a:t>SDG 13 — Climate Action</a:t>
            </a:r>
            <a:endParaRPr lang="en-US" sz="3200" dirty="0"/>
          </a:p>
        </p:txBody>
      </p:sp>
      <p:sp>
        <p:nvSpPr>
          <p:cNvPr id="1048600" name="Text 3"/>
          <p:cNvSpPr txBox="1"/>
          <p:nvPr/>
        </p:nvSpPr>
        <p:spPr>
          <a:xfrm>
            <a:off x="548640" y="1600200"/>
            <a:ext cx="6492240" cy="1645920"/>
          </a:xfrm>
          <a:prstGeom prst="rect">
            <a:avLst/>
          </a:prstGeom>
          <a:noFill/>
        </p:spPr>
        <p:txBody>
          <a:bodyPr wrap="square" lIns="0" tIns="0" rIns="0" bIns="0" rtlCol="0" anchor="ctr"/>
          <a:lstStyle/>
          <a:p>
            <a:pPr marL="0" indent="0">
              <a:lnSpc>
                <a:spcPct val="135000"/>
              </a:lnSpc>
              <a:buNone/>
            </a:pPr>
            <a:r>
              <a:rPr lang="en-US" sz="1450" dirty="0">
                <a:solidFill>
                  <a:srgbClr val="20281F"/>
                </a:solidFill>
                <a:latin typeface="Calibri" pitchFamily="34" charset="0"/>
                <a:ea typeface="Calibri" pitchFamily="34" charset="-122"/>
                <a:cs typeface="Calibri" pitchFamily="34" charset="-120"/>
              </a:rPr>
              <a:t>Perubahan iklim didorong oleh berbagai aktivitas manusia sehari-hari yang menghasilkan emisi gas rumah kaca. EcoTrack memilih SDG 13 untuk mendekatkan isu iklim yang sering terasa berskala besar dan jauh, menjadi sesuatu yang bisa diukur dan dipahami lewat kebiasaan pribadi pengguna.</a:t>
            </a:r>
            <a:endParaRPr lang="en-US" sz="1450" dirty="0"/>
          </a:p>
        </p:txBody>
      </p:sp>
      <p:sp>
        <p:nvSpPr>
          <p:cNvPr id="1048601" name="Shape 4"/>
          <p:cNvSpPr/>
          <p:nvPr/>
        </p:nvSpPr>
        <p:spPr>
          <a:xfrm>
            <a:off x="548640" y="3520440"/>
            <a:ext cx="2057400" cy="2148840"/>
          </a:xfrm>
          <a:prstGeom prst="roundRect">
            <a:avLst>
              <a:gd name="adj" fmla="val 3556"/>
            </a:avLst>
          </a:prstGeom>
          <a:solidFill>
            <a:srgbClr val="E4EEE2"/>
          </a:solidFill>
        </p:spPr>
      </p:sp>
      <p:sp>
        <p:nvSpPr>
          <p:cNvPr id="1048602" name="Shape 5"/>
          <p:cNvSpPr/>
          <p:nvPr/>
        </p:nvSpPr>
        <p:spPr>
          <a:xfrm>
            <a:off x="1207008" y="3749040"/>
            <a:ext cx="731520" cy="731520"/>
          </a:xfrm>
          <a:prstGeom prst="ellipse">
            <a:avLst/>
          </a:prstGeom>
          <a:solidFill>
            <a:srgbClr val="4C8C5C"/>
          </a:solidFill>
        </p:spPr>
      </p:sp>
      <p:sp>
        <p:nvSpPr>
          <p:cNvPr id="1048603" name="Text 6"/>
          <p:cNvSpPr txBox="1"/>
          <p:nvPr/>
        </p:nvSpPr>
        <p:spPr>
          <a:xfrm>
            <a:off x="1207008" y="3749040"/>
            <a:ext cx="731520" cy="731520"/>
          </a:xfrm>
          <a:prstGeom prst="rect">
            <a:avLst/>
          </a:prstGeom>
          <a:noFill/>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1048604" name="Text 7"/>
          <p:cNvSpPr txBox="1"/>
          <p:nvPr/>
        </p:nvSpPr>
        <p:spPr>
          <a:xfrm>
            <a:off x="685800" y="4572000"/>
            <a:ext cx="1783080" cy="365760"/>
          </a:xfrm>
          <a:prstGeom prst="rect">
            <a:avLst/>
          </a:prstGeom>
          <a:noFill/>
        </p:spPr>
        <p:txBody>
          <a:bodyPr wrap="square" lIns="0" tIns="0" rIns="0" bIns="0" rtlCol="0" anchor="ctr"/>
          <a:lstStyle/>
          <a:p>
            <a:pPr marL="0" indent="0" algn="ctr">
              <a:buNone/>
            </a:pPr>
            <a:r>
              <a:rPr lang="en-US" sz="1350" b="1" dirty="0">
                <a:solidFill>
                  <a:srgbClr val="16281D"/>
                </a:solidFill>
                <a:latin typeface="Calibri" pitchFamily="34" charset="0"/>
                <a:ea typeface="Calibri" pitchFamily="34" charset="-122"/>
                <a:cs typeface="Calibri" pitchFamily="34" charset="-120"/>
              </a:rPr>
              <a:t>Transportasi</a:t>
            </a:r>
            <a:endParaRPr lang="en-US" sz="1350" dirty="0"/>
          </a:p>
        </p:txBody>
      </p:sp>
      <p:sp>
        <p:nvSpPr>
          <p:cNvPr id="1048605" name="Text 8"/>
          <p:cNvSpPr txBox="1"/>
          <p:nvPr/>
        </p:nvSpPr>
        <p:spPr>
          <a:xfrm>
            <a:off x="685800" y="4937760"/>
            <a:ext cx="1783080" cy="640080"/>
          </a:xfrm>
          <a:prstGeom prst="rect">
            <a:avLst/>
          </a:prstGeom>
          <a:noFill/>
        </p:spPr>
        <p:txBody>
          <a:bodyPr wrap="square" lIns="0" tIns="0" rIns="0" bIns="0" rtlCol="0" anchor="ctr"/>
          <a:lstStyle/>
          <a:p>
            <a:pPr marL="0" indent="0" algn="ctr">
              <a:lnSpc>
                <a:spcPct val="115000"/>
              </a:lnSpc>
              <a:buNone/>
            </a:pPr>
            <a:r>
              <a:rPr lang="en-US" sz="1050" dirty="0">
                <a:solidFill>
                  <a:srgbClr val="5B6B5E"/>
                </a:solidFill>
                <a:latin typeface="Calibri" pitchFamily="34" charset="0"/>
                <a:ea typeface="Calibri" pitchFamily="34" charset="-122"/>
                <a:cs typeface="Calibri" pitchFamily="34" charset="-120"/>
              </a:rPr>
              <a:t>Emisi dari kendaraan pribadi &amp; moda transportasi harian</a:t>
            </a:r>
            <a:endParaRPr lang="en-US" sz="1050" dirty="0"/>
          </a:p>
        </p:txBody>
      </p:sp>
      <p:sp>
        <p:nvSpPr>
          <p:cNvPr id="1048606" name="Shape 9"/>
          <p:cNvSpPr/>
          <p:nvPr/>
        </p:nvSpPr>
        <p:spPr>
          <a:xfrm>
            <a:off x="2788920" y="3520440"/>
            <a:ext cx="2057400" cy="2148840"/>
          </a:xfrm>
          <a:prstGeom prst="roundRect">
            <a:avLst>
              <a:gd name="adj" fmla="val 3556"/>
            </a:avLst>
          </a:prstGeom>
          <a:solidFill>
            <a:srgbClr val="E4EEE2"/>
          </a:solidFill>
        </p:spPr>
      </p:sp>
      <p:sp>
        <p:nvSpPr>
          <p:cNvPr id="1048607" name="Shape 10"/>
          <p:cNvSpPr/>
          <p:nvPr/>
        </p:nvSpPr>
        <p:spPr>
          <a:xfrm>
            <a:off x="3447288" y="3749040"/>
            <a:ext cx="731520" cy="731520"/>
          </a:xfrm>
          <a:prstGeom prst="ellipse">
            <a:avLst/>
          </a:prstGeom>
          <a:solidFill>
            <a:srgbClr val="4C8C5C"/>
          </a:solidFill>
        </p:spPr>
      </p:sp>
      <p:sp>
        <p:nvSpPr>
          <p:cNvPr id="1048608" name="Text 11"/>
          <p:cNvSpPr txBox="1"/>
          <p:nvPr/>
        </p:nvSpPr>
        <p:spPr>
          <a:xfrm>
            <a:off x="3447288" y="3749040"/>
            <a:ext cx="731520" cy="731520"/>
          </a:xfrm>
          <a:prstGeom prst="rect">
            <a:avLst/>
          </a:prstGeom>
          <a:noFill/>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1048609" name="Text 12"/>
          <p:cNvSpPr txBox="1"/>
          <p:nvPr/>
        </p:nvSpPr>
        <p:spPr>
          <a:xfrm>
            <a:off x="2926080" y="4572000"/>
            <a:ext cx="1783080" cy="365760"/>
          </a:xfrm>
          <a:prstGeom prst="rect">
            <a:avLst/>
          </a:prstGeom>
          <a:noFill/>
        </p:spPr>
        <p:txBody>
          <a:bodyPr wrap="square" lIns="0" tIns="0" rIns="0" bIns="0" rtlCol="0" anchor="ctr"/>
          <a:lstStyle/>
          <a:p>
            <a:pPr marL="0" indent="0" algn="ctr">
              <a:buNone/>
            </a:pPr>
            <a:r>
              <a:rPr lang="en-US" sz="1350" b="1" dirty="0">
                <a:solidFill>
                  <a:srgbClr val="16281D"/>
                </a:solidFill>
                <a:latin typeface="Calibri" pitchFamily="34" charset="0"/>
                <a:ea typeface="Calibri" pitchFamily="34" charset="-122"/>
                <a:cs typeface="Calibri" pitchFamily="34" charset="-120"/>
              </a:rPr>
              <a:t>Listrik</a:t>
            </a:r>
            <a:endParaRPr lang="en-US" sz="1350" dirty="0"/>
          </a:p>
        </p:txBody>
      </p:sp>
      <p:sp>
        <p:nvSpPr>
          <p:cNvPr id="1048610" name="Text 13"/>
          <p:cNvSpPr txBox="1"/>
          <p:nvPr/>
        </p:nvSpPr>
        <p:spPr>
          <a:xfrm>
            <a:off x="2926080" y="4937760"/>
            <a:ext cx="1783080" cy="640080"/>
          </a:xfrm>
          <a:prstGeom prst="rect">
            <a:avLst/>
          </a:prstGeom>
          <a:noFill/>
        </p:spPr>
        <p:txBody>
          <a:bodyPr wrap="square" lIns="0" tIns="0" rIns="0" bIns="0" rtlCol="0" anchor="ctr"/>
          <a:lstStyle/>
          <a:p>
            <a:pPr marL="0" indent="0" algn="ctr">
              <a:lnSpc>
                <a:spcPct val="115000"/>
              </a:lnSpc>
              <a:buNone/>
            </a:pPr>
            <a:r>
              <a:rPr lang="en-US" sz="1050" dirty="0">
                <a:solidFill>
                  <a:srgbClr val="5B6B5E"/>
                </a:solidFill>
                <a:latin typeface="Calibri" pitchFamily="34" charset="0"/>
                <a:ea typeface="Calibri" pitchFamily="34" charset="-122"/>
                <a:cs typeface="Calibri" pitchFamily="34" charset="-120"/>
              </a:rPr>
              <a:t>Konsumsi energi rumah tangga sehari-hari</a:t>
            </a:r>
            <a:endParaRPr lang="en-US" sz="1050" dirty="0"/>
          </a:p>
        </p:txBody>
      </p:sp>
      <p:sp>
        <p:nvSpPr>
          <p:cNvPr id="1048611" name="Shape 14"/>
          <p:cNvSpPr/>
          <p:nvPr/>
        </p:nvSpPr>
        <p:spPr>
          <a:xfrm>
            <a:off x="5029200" y="3520440"/>
            <a:ext cx="2057400" cy="2148840"/>
          </a:xfrm>
          <a:prstGeom prst="roundRect">
            <a:avLst>
              <a:gd name="adj" fmla="val 3556"/>
            </a:avLst>
          </a:prstGeom>
          <a:solidFill>
            <a:srgbClr val="E4EEE2"/>
          </a:solidFill>
        </p:spPr>
      </p:sp>
      <p:sp>
        <p:nvSpPr>
          <p:cNvPr id="1048612" name="Shape 15"/>
          <p:cNvSpPr/>
          <p:nvPr/>
        </p:nvSpPr>
        <p:spPr>
          <a:xfrm>
            <a:off x="5687568" y="3749040"/>
            <a:ext cx="731520" cy="731520"/>
          </a:xfrm>
          <a:prstGeom prst="ellipse">
            <a:avLst/>
          </a:prstGeom>
          <a:solidFill>
            <a:srgbClr val="4C8C5C"/>
          </a:solidFill>
        </p:spPr>
      </p:sp>
      <p:sp>
        <p:nvSpPr>
          <p:cNvPr id="1048613" name="Text 16"/>
          <p:cNvSpPr txBox="1"/>
          <p:nvPr/>
        </p:nvSpPr>
        <p:spPr>
          <a:xfrm>
            <a:off x="5687568" y="3749040"/>
            <a:ext cx="731520" cy="731520"/>
          </a:xfrm>
          <a:prstGeom prst="rect">
            <a:avLst/>
          </a:prstGeom>
          <a:noFill/>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1048614" name="Text 17"/>
          <p:cNvSpPr txBox="1"/>
          <p:nvPr/>
        </p:nvSpPr>
        <p:spPr>
          <a:xfrm>
            <a:off x="5166360" y="4572000"/>
            <a:ext cx="1783080" cy="365760"/>
          </a:xfrm>
          <a:prstGeom prst="rect">
            <a:avLst/>
          </a:prstGeom>
          <a:noFill/>
        </p:spPr>
        <p:txBody>
          <a:bodyPr wrap="square" lIns="0" tIns="0" rIns="0" bIns="0" rtlCol="0" anchor="ctr"/>
          <a:lstStyle/>
          <a:p>
            <a:pPr marL="0" indent="0" algn="ctr">
              <a:buNone/>
            </a:pPr>
            <a:r>
              <a:rPr lang="en-US" sz="1350" b="1" dirty="0">
                <a:solidFill>
                  <a:srgbClr val="16281D"/>
                </a:solidFill>
                <a:latin typeface="Calibri" pitchFamily="34" charset="0"/>
                <a:ea typeface="Calibri" pitchFamily="34" charset="-122"/>
                <a:cs typeface="Calibri" pitchFamily="34" charset="-120"/>
              </a:rPr>
              <a:t>Makanan</a:t>
            </a:r>
            <a:endParaRPr lang="en-US" sz="1350" dirty="0"/>
          </a:p>
        </p:txBody>
      </p:sp>
      <p:sp>
        <p:nvSpPr>
          <p:cNvPr id="1048615" name="Text 18"/>
          <p:cNvSpPr txBox="1"/>
          <p:nvPr/>
        </p:nvSpPr>
        <p:spPr>
          <a:xfrm>
            <a:off x="5166360" y="4937760"/>
            <a:ext cx="1783080" cy="640080"/>
          </a:xfrm>
          <a:prstGeom prst="rect">
            <a:avLst/>
          </a:prstGeom>
          <a:noFill/>
        </p:spPr>
        <p:txBody>
          <a:bodyPr wrap="square" lIns="0" tIns="0" rIns="0" bIns="0" rtlCol="0" anchor="ctr"/>
          <a:lstStyle/>
          <a:p>
            <a:pPr marL="0" indent="0" algn="ctr">
              <a:lnSpc>
                <a:spcPct val="115000"/>
              </a:lnSpc>
              <a:buNone/>
            </a:pPr>
            <a:r>
              <a:rPr lang="en-US" sz="1050" dirty="0">
                <a:solidFill>
                  <a:srgbClr val="5B6B5E"/>
                </a:solidFill>
                <a:latin typeface="Calibri" pitchFamily="34" charset="0"/>
                <a:ea typeface="Calibri" pitchFamily="34" charset="-122"/>
                <a:cs typeface="Calibri" pitchFamily="34" charset="-120"/>
              </a:rPr>
              <a:t>Jejak karbon dari pilihan dan porsi makanan</a:t>
            </a:r>
            <a:endParaRPr lang="en-US" sz="1050" dirty="0"/>
          </a:p>
        </p:txBody>
      </p:sp>
      <p:sp>
        <p:nvSpPr>
          <p:cNvPr id="1048616" name="Shape 19"/>
          <p:cNvSpPr/>
          <p:nvPr/>
        </p:nvSpPr>
        <p:spPr>
          <a:xfrm>
            <a:off x="7406640" y="1554480"/>
            <a:ext cx="4251960" cy="1783080"/>
          </a:xfrm>
          <a:prstGeom prst="roundRect">
            <a:avLst>
              <a:gd name="adj" fmla="val 4103"/>
            </a:avLst>
          </a:prstGeom>
          <a:solidFill>
            <a:srgbClr val="16281D"/>
          </a:solidFill>
        </p:spPr>
      </p:sp>
      <p:sp>
        <p:nvSpPr>
          <p:cNvPr id="1048617" name="Text 20"/>
          <p:cNvSpPr txBox="1"/>
          <p:nvPr/>
        </p:nvSpPr>
        <p:spPr>
          <a:xfrm>
            <a:off x="7680960" y="1737360"/>
            <a:ext cx="1828800" cy="365760"/>
          </a:xfrm>
          <a:prstGeom prst="rect">
            <a:avLst/>
          </a:prstGeom>
          <a:noFill/>
        </p:spPr>
        <p:txBody>
          <a:bodyPr wrap="square" lIns="0" tIns="0" rIns="0" bIns="0" rtlCol="0" anchor="ctr"/>
          <a:lstStyle/>
          <a:p>
            <a:pPr marL="0" indent="0">
              <a:buNone/>
            </a:pPr>
            <a:r>
              <a:rPr lang="en-US" sz="1200" b="1" kern="0" spc="200" dirty="0">
                <a:solidFill>
                  <a:srgbClr val="F6D9B8"/>
                </a:solidFill>
                <a:latin typeface="Calibri" pitchFamily="34" charset="0"/>
                <a:ea typeface="Calibri" pitchFamily="34" charset="-122"/>
                <a:cs typeface="Calibri" pitchFamily="34" charset="-120"/>
              </a:rPr>
              <a:t>SDG</a:t>
            </a:r>
            <a:endParaRPr lang="en-US" sz="1200" dirty="0"/>
          </a:p>
        </p:txBody>
      </p:sp>
      <p:sp>
        <p:nvSpPr>
          <p:cNvPr id="1048618" name="Text 21"/>
          <p:cNvSpPr txBox="1"/>
          <p:nvPr/>
        </p:nvSpPr>
        <p:spPr>
          <a:xfrm>
            <a:off x="7635240" y="1965960"/>
            <a:ext cx="1828800" cy="1005840"/>
          </a:xfrm>
          <a:prstGeom prst="rect">
            <a:avLst/>
          </a:prstGeom>
          <a:noFill/>
        </p:spPr>
        <p:txBody>
          <a:bodyPr wrap="square" lIns="0" tIns="0" rIns="0" bIns="0" rtlCol="0" anchor="ctr"/>
          <a:lstStyle/>
          <a:p>
            <a:pPr marL="0" indent="0">
              <a:buNone/>
            </a:pPr>
            <a:r>
              <a:rPr lang="en-US" sz="6000" b="1" dirty="0">
                <a:solidFill>
                  <a:srgbClr val="FFFFFF"/>
                </a:solidFill>
                <a:latin typeface="Bookman Old Style" pitchFamily="34" charset="0"/>
                <a:ea typeface="Bookman Old Style" pitchFamily="34" charset="-122"/>
                <a:cs typeface="Bookman Old Style" pitchFamily="34" charset="-120"/>
              </a:rPr>
              <a:t>13</a:t>
            </a:r>
            <a:endParaRPr lang="en-US" sz="6000" dirty="0"/>
          </a:p>
        </p:txBody>
      </p:sp>
      <p:sp>
        <p:nvSpPr>
          <p:cNvPr id="1048619" name="Text 22"/>
          <p:cNvSpPr txBox="1"/>
          <p:nvPr/>
        </p:nvSpPr>
        <p:spPr>
          <a:xfrm>
            <a:off x="9281160" y="2057400"/>
            <a:ext cx="2194560" cy="1097280"/>
          </a:xfrm>
          <a:prstGeom prst="rect">
            <a:avLst/>
          </a:prstGeom>
          <a:noFill/>
        </p:spPr>
        <p:txBody>
          <a:bodyPr wrap="square" lIns="0" tIns="0" rIns="0" bIns="0" rtlCol="0" anchor="ctr"/>
          <a:lstStyle/>
          <a:p>
            <a:pPr marL="0" indent="0">
              <a:lnSpc>
                <a:spcPct val="110000"/>
              </a:lnSpc>
              <a:buNone/>
            </a:pPr>
            <a:r>
              <a:rPr lang="en-US" sz="1600" b="1" dirty="0">
                <a:solidFill>
                  <a:srgbClr val="F6D9B8"/>
                </a:solidFill>
                <a:latin typeface="Calibri" pitchFamily="34" charset="0"/>
                <a:ea typeface="Calibri" pitchFamily="34" charset="-122"/>
                <a:cs typeface="Calibri" pitchFamily="34" charset="-120"/>
              </a:rPr>
              <a:t>Climate</a:t>
            </a:r>
            <a:endParaRPr lang="en-US" sz="1600" dirty="0"/>
          </a:p>
          <a:p>
            <a:pPr marL="0" indent="0">
              <a:lnSpc>
                <a:spcPct val="110000"/>
              </a:lnSpc>
              <a:buNone/>
            </a:pPr>
            <a:r>
              <a:rPr lang="en-US" sz="1600" b="1" dirty="0">
                <a:solidFill>
                  <a:srgbClr val="F6D9B8"/>
                </a:solidFill>
                <a:latin typeface="Calibri" pitchFamily="34" charset="0"/>
                <a:ea typeface="Calibri" pitchFamily="34" charset="-122"/>
                <a:cs typeface="Calibri" pitchFamily="34" charset="-120"/>
              </a:rPr>
              <a:t>Action</a:t>
            </a:r>
            <a:endParaRPr lang="en-US" sz="1600" dirty="0"/>
          </a:p>
        </p:txBody>
      </p:sp>
      <p:sp>
        <p:nvSpPr>
          <p:cNvPr id="1048620" name="Text 23"/>
          <p:cNvSpPr txBox="1"/>
          <p:nvPr/>
        </p:nvSpPr>
        <p:spPr>
          <a:xfrm>
            <a:off x="548640" y="6473952"/>
            <a:ext cx="7315200" cy="274320"/>
          </a:xfrm>
          <a:prstGeom prst="rect">
            <a:avLst/>
          </a:prstGeom>
          <a:noFill/>
        </p:spPr>
        <p:txBody>
          <a:bodyPr wrap="square" lIns="0" tIns="0" rIns="0" bIns="0" rtlCol="0" anchor="ctr"/>
          <a:lstStyle/>
          <a:p>
            <a:pPr marL="0" indent="0">
              <a:buNone/>
            </a:pPr>
            <a:r>
              <a:rPr lang="en-US" sz="900" dirty="0">
                <a:solidFill>
                  <a:srgbClr val="5B6B5E"/>
                </a:solidFill>
                <a:latin typeface="Calibri" pitchFamily="34" charset="0"/>
                <a:ea typeface="Calibri" pitchFamily="34" charset="-122"/>
                <a:cs typeface="Calibri" pitchFamily="34" charset="-120"/>
              </a:rPr>
              <a:t>VISTA  •  Proposal Proyek Flutter  •  EcoTrack</a:t>
            </a:r>
            <a:endParaRPr lang="en-US" sz="900" dirty="0"/>
          </a:p>
        </p:txBody>
      </p:sp>
      <p:sp>
        <p:nvSpPr>
          <p:cNvPr id="1048621" name="Text 24"/>
          <p:cNvSpPr txBox="1"/>
          <p:nvPr/>
        </p:nvSpPr>
        <p:spPr>
          <a:xfrm>
            <a:off x="10424160" y="6473952"/>
            <a:ext cx="1188720" cy="274320"/>
          </a:xfrm>
          <a:prstGeom prst="rect">
            <a:avLst/>
          </a:prstGeom>
          <a:noFill/>
        </p:spPr>
        <p:txBody>
          <a:bodyPr wrap="square" lIns="0" tIns="0" rIns="0" bIns="0" rtlCol="0" anchor="ctr"/>
          <a:lstStyle/>
          <a:p>
            <a:pPr marL="0" indent="0" algn="r">
              <a:buNone/>
            </a:pPr>
            <a:r>
              <a:rPr lang="en-US" sz="900" b="1" dirty="0">
                <a:solidFill>
                  <a:srgbClr val="4C8C5C"/>
                </a:solidFill>
                <a:latin typeface="Calibri" pitchFamily="34" charset="0"/>
                <a:ea typeface="Calibri" pitchFamily="34" charset="-122"/>
                <a:cs typeface="Calibri" pitchFamily="34" charset="-120"/>
              </a:rPr>
              <a:t>SDG 13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1048625" name="Shape 0"/>
          <p:cNvSpPr/>
          <p:nvPr/>
        </p:nvSpPr>
        <p:spPr>
          <a:xfrm>
            <a:off x="0" y="0"/>
            <a:ext cx="12188952" cy="6858000"/>
          </a:xfrm>
          <a:prstGeom prst="rect">
            <a:avLst/>
          </a:prstGeom>
          <a:solidFill>
            <a:srgbClr val="FFFFFF"/>
          </a:solidFill>
        </p:spPr>
      </p:sp>
      <p:sp>
        <p:nvSpPr>
          <p:cNvPr id="1048626" name="Text 1"/>
          <p:cNvSpPr txBox="1"/>
          <p:nvPr/>
        </p:nvSpPr>
        <p:spPr>
          <a:xfrm>
            <a:off x="548640" y="320040"/>
            <a:ext cx="7315200" cy="365760"/>
          </a:xfrm>
          <a:prstGeom prst="rect">
            <a:avLst/>
          </a:prstGeom>
          <a:noFill/>
        </p:spPr>
        <p:txBody>
          <a:bodyPr wrap="square" lIns="0" tIns="0" rIns="0" bIns="0" rtlCol="0" anchor="ctr"/>
          <a:lstStyle/>
          <a:p>
            <a:pPr marL="0" indent="0">
              <a:buNone/>
            </a:pPr>
            <a:r>
              <a:rPr lang="en-US" sz="1200" b="1" kern="0" spc="200" dirty="0">
                <a:solidFill>
                  <a:srgbClr val="4C8C5C"/>
                </a:solidFill>
                <a:latin typeface="Calibri" pitchFamily="34" charset="0"/>
                <a:ea typeface="Calibri" pitchFamily="34" charset="-122"/>
                <a:cs typeface="Calibri" pitchFamily="34" charset="-120"/>
              </a:rPr>
              <a:t>02  —  PERMASALAHAN</a:t>
            </a:r>
            <a:endParaRPr lang="en-US" sz="1200" dirty="0"/>
          </a:p>
        </p:txBody>
      </p:sp>
      <p:sp>
        <p:nvSpPr>
          <p:cNvPr id="1048627" name="Text 2"/>
          <p:cNvSpPr txBox="1"/>
          <p:nvPr/>
        </p:nvSpPr>
        <p:spPr>
          <a:xfrm>
            <a:off x="548640" y="777240"/>
            <a:ext cx="8229600" cy="640080"/>
          </a:xfrm>
          <a:prstGeom prst="rect">
            <a:avLst/>
          </a:prstGeom>
          <a:noFill/>
        </p:spPr>
        <p:txBody>
          <a:bodyPr wrap="square" lIns="0" tIns="0" rIns="0" bIns="0" rtlCol="0" anchor="ctr"/>
          <a:lstStyle/>
          <a:p>
            <a:pPr marL="0" indent="0">
              <a:buNone/>
            </a:pPr>
            <a:r>
              <a:rPr lang="en-US" sz="2800" b="1" dirty="0">
                <a:solidFill>
                  <a:srgbClr val="16281D"/>
                </a:solidFill>
                <a:latin typeface="Bookman Old Style" pitchFamily="34" charset="0"/>
                <a:ea typeface="Bookman Old Style" pitchFamily="34" charset="-122"/>
                <a:cs typeface="Bookman Old Style" pitchFamily="34" charset="-120"/>
              </a:rPr>
              <a:t>Masalah yang Ingin Diselesaikan</a:t>
            </a:r>
            <a:endParaRPr lang="en-US" sz="2800" dirty="0"/>
          </a:p>
        </p:txBody>
      </p:sp>
      <p:sp>
        <p:nvSpPr>
          <p:cNvPr id="1048628" name="Shape 3"/>
          <p:cNvSpPr/>
          <p:nvPr/>
        </p:nvSpPr>
        <p:spPr>
          <a:xfrm>
            <a:off x="548640" y="1691640"/>
            <a:ext cx="5257800" cy="1600200"/>
          </a:xfrm>
          <a:prstGeom prst="roundRect">
            <a:avLst>
              <a:gd name="adj" fmla="val 4571"/>
            </a:avLst>
          </a:prstGeom>
          <a:solidFill>
            <a:srgbClr val="E4EEE2"/>
          </a:solidFill>
        </p:spPr>
      </p:sp>
      <p:sp>
        <p:nvSpPr>
          <p:cNvPr id="1048629" name="Shape 4"/>
          <p:cNvSpPr/>
          <p:nvPr/>
        </p:nvSpPr>
        <p:spPr>
          <a:xfrm>
            <a:off x="804672" y="1947672"/>
            <a:ext cx="502920" cy="502920"/>
          </a:xfrm>
          <a:prstGeom prst="ellipse">
            <a:avLst/>
          </a:prstGeom>
          <a:solidFill>
            <a:srgbClr val="4C8C5C"/>
          </a:solidFill>
        </p:spPr>
      </p:sp>
      <p:sp>
        <p:nvSpPr>
          <p:cNvPr id="1048630" name="Text 5"/>
          <p:cNvSpPr txBox="1"/>
          <p:nvPr/>
        </p:nvSpPr>
        <p:spPr>
          <a:xfrm>
            <a:off x="804672" y="1947672"/>
            <a:ext cx="502920" cy="502920"/>
          </a:xfrm>
          <a:prstGeom prst="rect">
            <a:avLst/>
          </a:prstGeom>
          <a:noFill/>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48631" name="Text 6"/>
          <p:cNvSpPr txBox="1"/>
          <p:nvPr/>
        </p:nvSpPr>
        <p:spPr>
          <a:xfrm>
            <a:off x="1463040" y="1874520"/>
            <a:ext cx="4160520" cy="1234440"/>
          </a:xfrm>
          <a:prstGeom prst="rect">
            <a:avLst/>
          </a:prstGeom>
          <a:noFill/>
        </p:spPr>
        <p:txBody>
          <a:bodyPr wrap="square" lIns="0" tIns="0" rIns="0" bIns="0" rtlCol="0" anchor="ctr"/>
          <a:lstStyle/>
          <a:p>
            <a:pPr marL="0" indent="0">
              <a:lnSpc>
                <a:spcPct val="120000"/>
              </a:lnSpc>
              <a:buNone/>
            </a:pPr>
            <a:r>
              <a:rPr lang="en-US" sz="1300" dirty="0">
                <a:solidFill>
                  <a:srgbClr val="20281F"/>
                </a:solidFill>
                <a:latin typeface="Calibri" pitchFamily="34" charset="0"/>
                <a:ea typeface="Calibri" pitchFamily="34" charset="-122"/>
                <a:cs typeface="Calibri" pitchFamily="34" charset="-120"/>
              </a:rPr>
              <a:t>Pengguna belum mengetahui estimasi jejak karbon dari aktivitas sehari-hari.</a:t>
            </a:r>
            <a:endParaRPr lang="en-US" sz="1300" dirty="0"/>
          </a:p>
        </p:txBody>
      </p:sp>
      <p:sp>
        <p:nvSpPr>
          <p:cNvPr id="1048632" name="Shape 7"/>
          <p:cNvSpPr/>
          <p:nvPr/>
        </p:nvSpPr>
        <p:spPr>
          <a:xfrm>
            <a:off x="6172200" y="1691640"/>
            <a:ext cx="5257800" cy="1600200"/>
          </a:xfrm>
          <a:prstGeom prst="roundRect">
            <a:avLst>
              <a:gd name="adj" fmla="val 4571"/>
            </a:avLst>
          </a:prstGeom>
          <a:solidFill>
            <a:srgbClr val="FBEEE0"/>
          </a:solidFill>
        </p:spPr>
      </p:sp>
      <p:sp>
        <p:nvSpPr>
          <p:cNvPr id="1048633" name="Shape 8"/>
          <p:cNvSpPr/>
          <p:nvPr/>
        </p:nvSpPr>
        <p:spPr>
          <a:xfrm>
            <a:off x="6428232" y="1947672"/>
            <a:ext cx="502920" cy="502920"/>
          </a:xfrm>
          <a:prstGeom prst="ellipse">
            <a:avLst/>
          </a:prstGeom>
          <a:solidFill>
            <a:srgbClr val="D97B2E"/>
          </a:solidFill>
        </p:spPr>
      </p:sp>
      <p:sp>
        <p:nvSpPr>
          <p:cNvPr id="1048634" name="Text 9"/>
          <p:cNvSpPr txBox="1"/>
          <p:nvPr/>
        </p:nvSpPr>
        <p:spPr>
          <a:xfrm>
            <a:off x="6428232" y="1947672"/>
            <a:ext cx="502920" cy="502920"/>
          </a:xfrm>
          <a:prstGeom prst="rect">
            <a:avLst/>
          </a:prstGeom>
          <a:noFill/>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48635" name="Text 10"/>
          <p:cNvSpPr txBox="1"/>
          <p:nvPr/>
        </p:nvSpPr>
        <p:spPr>
          <a:xfrm>
            <a:off x="7086600" y="1874520"/>
            <a:ext cx="4160520" cy="1234440"/>
          </a:xfrm>
          <a:prstGeom prst="rect">
            <a:avLst/>
          </a:prstGeom>
          <a:noFill/>
        </p:spPr>
        <p:txBody>
          <a:bodyPr wrap="square" lIns="0" tIns="0" rIns="0" bIns="0" rtlCol="0" anchor="ctr"/>
          <a:lstStyle/>
          <a:p>
            <a:pPr marL="0" indent="0">
              <a:lnSpc>
                <a:spcPct val="120000"/>
              </a:lnSpc>
              <a:buNone/>
            </a:pPr>
            <a:r>
              <a:rPr lang="en-US" sz="1300" dirty="0">
                <a:solidFill>
                  <a:srgbClr val="20281F"/>
                </a:solidFill>
                <a:latin typeface="Calibri" pitchFamily="34" charset="0"/>
                <a:ea typeface="Calibri" pitchFamily="34" charset="-122"/>
                <a:cs typeface="Calibri" pitchFamily="34" charset="-120"/>
              </a:rPr>
              <a:t>Sulit melihat aktivitas mana yang paling banyak menyumbang emisi.</a:t>
            </a:r>
            <a:endParaRPr lang="en-US" sz="1300" dirty="0"/>
          </a:p>
        </p:txBody>
      </p:sp>
      <p:sp>
        <p:nvSpPr>
          <p:cNvPr id="1048636" name="Shape 11"/>
          <p:cNvSpPr/>
          <p:nvPr/>
        </p:nvSpPr>
        <p:spPr>
          <a:xfrm>
            <a:off x="548640" y="3566160"/>
            <a:ext cx="5257800" cy="1600200"/>
          </a:xfrm>
          <a:prstGeom prst="roundRect">
            <a:avLst>
              <a:gd name="adj" fmla="val 4571"/>
            </a:avLst>
          </a:prstGeom>
          <a:solidFill>
            <a:srgbClr val="E4EEE2"/>
          </a:solidFill>
        </p:spPr>
      </p:sp>
      <p:sp>
        <p:nvSpPr>
          <p:cNvPr id="1048637" name="Shape 12"/>
          <p:cNvSpPr/>
          <p:nvPr/>
        </p:nvSpPr>
        <p:spPr>
          <a:xfrm>
            <a:off x="804672" y="3822192"/>
            <a:ext cx="502920" cy="502920"/>
          </a:xfrm>
          <a:prstGeom prst="ellipse">
            <a:avLst/>
          </a:prstGeom>
          <a:solidFill>
            <a:srgbClr val="4C8C5C"/>
          </a:solidFill>
        </p:spPr>
      </p:sp>
      <p:sp>
        <p:nvSpPr>
          <p:cNvPr id="1048638" name="Text 13"/>
          <p:cNvSpPr txBox="1"/>
          <p:nvPr/>
        </p:nvSpPr>
        <p:spPr>
          <a:xfrm>
            <a:off x="804672" y="3822192"/>
            <a:ext cx="502920" cy="502920"/>
          </a:xfrm>
          <a:prstGeom prst="rect">
            <a:avLst/>
          </a:prstGeom>
          <a:noFill/>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048639" name="Text 14"/>
          <p:cNvSpPr txBox="1"/>
          <p:nvPr/>
        </p:nvSpPr>
        <p:spPr>
          <a:xfrm>
            <a:off x="1463040" y="3749040"/>
            <a:ext cx="4160520" cy="1234440"/>
          </a:xfrm>
          <a:prstGeom prst="rect">
            <a:avLst/>
          </a:prstGeom>
          <a:noFill/>
        </p:spPr>
        <p:txBody>
          <a:bodyPr wrap="square" lIns="0" tIns="0" rIns="0" bIns="0" rtlCol="0" anchor="ctr"/>
          <a:lstStyle/>
          <a:p>
            <a:pPr marL="0" indent="0">
              <a:lnSpc>
                <a:spcPct val="120000"/>
              </a:lnSpc>
              <a:buNone/>
            </a:pPr>
            <a:r>
              <a:rPr lang="en-US" sz="1300" dirty="0">
                <a:solidFill>
                  <a:srgbClr val="20281F"/>
                </a:solidFill>
                <a:latin typeface="Calibri" pitchFamily="34" charset="0"/>
                <a:ea typeface="Calibri" pitchFamily="34" charset="-122"/>
                <a:cs typeface="Calibri" pitchFamily="34" charset="-120"/>
              </a:rPr>
              <a:t>Informasi climate action belum selalu mudah diterapkan menjadi kebiasaan harian.</a:t>
            </a:r>
            <a:endParaRPr lang="en-US" sz="1300" dirty="0"/>
          </a:p>
        </p:txBody>
      </p:sp>
      <p:sp>
        <p:nvSpPr>
          <p:cNvPr id="1048640" name="Shape 15"/>
          <p:cNvSpPr/>
          <p:nvPr/>
        </p:nvSpPr>
        <p:spPr>
          <a:xfrm>
            <a:off x="6172200" y="3566160"/>
            <a:ext cx="5257800" cy="1600200"/>
          </a:xfrm>
          <a:prstGeom prst="roundRect">
            <a:avLst>
              <a:gd name="adj" fmla="val 4571"/>
            </a:avLst>
          </a:prstGeom>
          <a:solidFill>
            <a:srgbClr val="FBEEE0"/>
          </a:solidFill>
        </p:spPr>
      </p:sp>
      <p:sp>
        <p:nvSpPr>
          <p:cNvPr id="1048641" name="Shape 16"/>
          <p:cNvSpPr/>
          <p:nvPr/>
        </p:nvSpPr>
        <p:spPr>
          <a:xfrm>
            <a:off x="6428232" y="3822192"/>
            <a:ext cx="502920" cy="502920"/>
          </a:xfrm>
          <a:prstGeom prst="ellipse">
            <a:avLst/>
          </a:prstGeom>
          <a:solidFill>
            <a:srgbClr val="D97B2E"/>
          </a:solidFill>
        </p:spPr>
      </p:sp>
      <p:sp>
        <p:nvSpPr>
          <p:cNvPr id="1048642" name="Text 17"/>
          <p:cNvSpPr txBox="1"/>
          <p:nvPr/>
        </p:nvSpPr>
        <p:spPr>
          <a:xfrm>
            <a:off x="6428232" y="3822192"/>
            <a:ext cx="502920" cy="502920"/>
          </a:xfrm>
          <a:prstGeom prst="rect">
            <a:avLst/>
          </a:prstGeom>
          <a:noFill/>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048643" name="Text 18"/>
          <p:cNvSpPr txBox="1"/>
          <p:nvPr/>
        </p:nvSpPr>
        <p:spPr>
          <a:xfrm>
            <a:off x="7086600" y="3749040"/>
            <a:ext cx="4160520" cy="1234440"/>
          </a:xfrm>
          <a:prstGeom prst="rect">
            <a:avLst/>
          </a:prstGeom>
          <a:noFill/>
        </p:spPr>
        <p:txBody>
          <a:bodyPr wrap="square" lIns="0" tIns="0" rIns="0" bIns="0" rtlCol="0" anchor="ctr"/>
          <a:lstStyle/>
          <a:p>
            <a:pPr marL="0" indent="0">
              <a:lnSpc>
                <a:spcPct val="120000"/>
              </a:lnSpc>
              <a:buNone/>
            </a:pPr>
            <a:r>
              <a:rPr lang="en-US" sz="1300" dirty="0">
                <a:solidFill>
                  <a:srgbClr val="20281F"/>
                </a:solidFill>
                <a:latin typeface="Calibri" pitchFamily="34" charset="0"/>
                <a:ea typeface="Calibri" pitchFamily="34" charset="-122"/>
                <a:cs typeface="Calibri" pitchFamily="34" charset="-120"/>
              </a:rPr>
              <a:t>Belum ada pencatatan sederhana yang menunjukkan perkembangan jejak karbon dari waktu ke waktu.</a:t>
            </a:r>
            <a:endParaRPr lang="en-US" sz="1300" dirty="0"/>
          </a:p>
        </p:txBody>
      </p:sp>
      <p:sp>
        <p:nvSpPr>
          <p:cNvPr id="1048644" name="Text 19"/>
          <p:cNvSpPr txBox="1"/>
          <p:nvPr/>
        </p:nvSpPr>
        <p:spPr>
          <a:xfrm>
            <a:off x="548640" y="6473952"/>
            <a:ext cx="7315200" cy="274320"/>
          </a:xfrm>
          <a:prstGeom prst="rect">
            <a:avLst/>
          </a:prstGeom>
          <a:noFill/>
        </p:spPr>
        <p:txBody>
          <a:bodyPr wrap="square" lIns="0" tIns="0" rIns="0" bIns="0" rtlCol="0" anchor="ctr"/>
          <a:lstStyle/>
          <a:p>
            <a:pPr marL="0" indent="0">
              <a:buNone/>
            </a:pPr>
            <a:r>
              <a:rPr lang="en-US" sz="900" dirty="0">
                <a:solidFill>
                  <a:srgbClr val="5B6B5E"/>
                </a:solidFill>
                <a:latin typeface="Calibri" pitchFamily="34" charset="0"/>
                <a:ea typeface="Calibri" pitchFamily="34" charset="-122"/>
                <a:cs typeface="Calibri" pitchFamily="34" charset="-120"/>
              </a:rPr>
              <a:t>VISTA  •  Proposal Proyek Flutter  •  EcoTrack</a:t>
            </a:r>
            <a:endParaRPr lang="en-US" sz="900" dirty="0"/>
          </a:p>
        </p:txBody>
      </p:sp>
      <p:sp>
        <p:nvSpPr>
          <p:cNvPr id="1048645" name="Text 20"/>
          <p:cNvSpPr txBox="1"/>
          <p:nvPr/>
        </p:nvSpPr>
        <p:spPr>
          <a:xfrm>
            <a:off x="10424160" y="6473952"/>
            <a:ext cx="1188720" cy="274320"/>
          </a:xfrm>
          <a:prstGeom prst="rect">
            <a:avLst/>
          </a:prstGeom>
          <a:noFill/>
        </p:spPr>
        <p:txBody>
          <a:bodyPr wrap="square" lIns="0" tIns="0" rIns="0" bIns="0" rtlCol="0" anchor="ctr"/>
          <a:lstStyle/>
          <a:p>
            <a:pPr marL="0" indent="0" algn="r">
              <a:buNone/>
            </a:pPr>
            <a:r>
              <a:rPr lang="en-US" sz="900" b="1" dirty="0">
                <a:solidFill>
                  <a:srgbClr val="4C8C5C"/>
                </a:solidFill>
                <a:latin typeface="Calibri" pitchFamily="34" charset="0"/>
                <a:ea typeface="Calibri" pitchFamily="34" charset="-122"/>
                <a:cs typeface="Calibri" pitchFamily="34" charset="-120"/>
              </a:rPr>
              <a:t>SDG 13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1048649" name="Shape 0"/>
          <p:cNvSpPr/>
          <p:nvPr/>
        </p:nvSpPr>
        <p:spPr>
          <a:xfrm>
            <a:off x="0" y="0"/>
            <a:ext cx="12188952" cy="6858000"/>
          </a:xfrm>
          <a:prstGeom prst="rect">
            <a:avLst/>
          </a:prstGeom>
          <a:solidFill>
            <a:srgbClr val="16281D"/>
          </a:solidFill>
        </p:spPr>
      </p:sp>
      <p:sp>
        <p:nvSpPr>
          <p:cNvPr id="1048650" name="Text 1"/>
          <p:cNvSpPr txBox="1"/>
          <p:nvPr/>
        </p:nvSpPr>
        <p:spPr>
          <a:xfrm>
            <a:off x="548640" y="320040"/>
            <a:ext cx="7315200" cy="365760"/>
          </a:xfrm>
          <a:prstGeom prst="rect">
            <a:avLst/>
          </a:prstGeom>
          <a:noFill/>
        </p:spPr>
        <p:txBody>
          <a:bodyPr wrap="square" lIns="0" tIns="0" rIns="0" bIns="0" rtlCol="0" anchor="ctr"/>
          <a:lstStyle/>
          <a:p>
            <a:pPr marL="0" indent="0">
              <a:buNone/>
            </a:pPr>
            <a:r>
              <a:rPr lang="en-US" sz="1200" b="1" kern="0" spc="200" dirty="0">
                <a:solidFill>
                  <a:srgbClr val="F6D9B8"/>
                </a:solidFill>
                <a:latin typeface="Calibri" pitchFamily="34" charset="0"/>
                <a:ea typeface="Calibri" pitchFamily="34" charset="-122"/>
                <a:cs typeface="Calibri" pitchFamily="34" charset="-120"/>
              </a:rPr>
              <a:t>03  —  TARGET PENGGUNA</a:t>
            </a:r>
            <a:endParaRPr lang="en-US" sz="1200" dirty="0"/>
          </a:p>
        </p:txBody>
      </p:sp>
      <p:sp>
        <p:nvSpPr>
          <p:cNvPr id="1048651" name="Text 2"/>
          <p:cNvSpPr txBox="1"/>
          <p:nvPr/>
        </p:nvSpPr>
        <p:spPr>
          <a:xfrm>
            <a:off x="548640" y="777240"/>
            <a:ext cx="9144000" cy="640080"/>
          </a:xfrm>
          <a:prstGeom prst="rect">
            <a:avLst/>
          </a:prstGeom>
          <a:noFill/>
        </p:spPr>
        <p:txBody>
          <a:bodyPr wrap="square" lIns="0" tIns="0" rIns="0" bIns="0" rtlCol="0" anchor="ctr"/>
          <a:lstStyle/>
          <a:p>
            <a:pPr marL="0" indent="0">
              <a:buNone/>
            </a:pPr>
            <a:r>
              <a:rPr lang="en-US" sz="2800" b="1" dirty="0">
                <a:solidFill>
                  <a:srgbClr val="F4EFE4"/>
                </a:solidFill>
                <a:latin typeface="Bookman Old Style" pitchFamily="34" charset="0"/>
                <a:ea typeface="Bookman Old Style" pitchFamily="34" charset="-122"/>
                <a:cs typeface="Bookman Old Style" pitchFamily="34" charset="-120"/>
              </a:rPr>
              <a:t>Siapa yang Menggunakan EcoTrack?</a:t>
            </a:r>
            <a:endParaRPr lang="en-US" sz="2800" dirty="0"/>
          </a:p>
        </p:txBody>
      </p:sp>
      <p:sp>
        <p:nvSpPr>
          <p:cNvPr id="1048652" name="Text 3"/>
          <p:cNvSpPr txBox="1"/>
          <p:nvPr/>
        </p:nvSpPr>
        <p:spPr>
          <a:xfrm>
            <a:off x="548640" y="1463040"/>
            <a:ext cx="8686800" cy="548640"/>
          </a:xfrm>
          <a:prstGeom prst="rect">
            <a:avLst/>
          </a:prstGeom>
          <a:noFill/>
        </p:spPr>
        <p:txBody>
          <a:bodyPr wrap="square" lIns="0" tIns="0" rIns="0" bIns="0" rtlCol="0" anchor="ctr"/>
          <a:lstStyle/>
          <a:p>
            <a:pPr marL="0" indent="0">
              <a:buNone/>
            </a:pPr>
            <a:r>
              <a:rPr lang="en-US" sz="1250" i="1" dirty="0">
                <a:solidFill>
                  <a:srgbClr val="B9CBBB"/>
                </a:solidFill>
                <a:latin typeface="Calibri" pitchFamily="34" charset="0"/>
                <a:ea typeface="Calibri" pitchFamily="34" charset="-122"/>
                <a:cs typeface="Calibri" pitchFamily="34" charset="-120"/>
              </a:rPr>
              <a:t>Untuk prototype tugas kuliah, seluruh pengguna diperlakukan sebagai satu role utama — tidak diperlukan sistem role &amp; permission yang kompleks.</a:t>
            </a:r>
            <a:endParaRPr lang="en-US" sz="1250" dirty="0"/>
          </a:p>
        </p:txBody>
      </p:sp>
      <p:sp>
        <p:nvSpPr>
          <p:cNvPr id="1048653" name="Shape 4"/>
          <p:cNvSpPr/>
          <p:nvPr/>
        </p:nvSpPr>
        <p:spPr>
          <a:xfrm>
            <a:off x="548640" y="2331720"/>
            <a:ext cx="2560320" cy="3566160"/>
          </a:xfrm>
          <a:prstGeom prst="roundRect">
            <a:avLst>
              <a:gd name="adj" fmla="val 3571"/>
            </a:avLst>
          </a:prstGeom>
          <a:solidFill>
            <a:srgbClr val="234A32"/>
          </a:solidFill>
          <a:ln w="12700">
            <a:solidFill>
              <a:srgbClr val="3C6B4A"/>
            </a:solidFill>
            <a:prstDash val="solid"/>
          </a:ln>
        </p:spPr>
      </p:sp>
      <p:sp>
        <p:nvSpPr>
          <p:cNvPr id="1048654" name="Shape 5"/>
          <p:cNvSpPr/>
          <p:nvPr/>
        </p:nvSpPr>
        <p:spPr>
          <a:xfrm>
            <a:off x="1463040" y="2651760"/>
            <a:ext cx="731520" cy="731520"/>
          </a:xfrm>
          <a:prstGeom prst="ellipse">
            <a:avLst/>
          </a:prstGeom>
          <a:solidFill>
            <a:srgbClr val="D97B2E"/>
          </a:solidFill>
        </p:spPr>
      </p:sp>
      <p:sp>
        <p:nvSpPr>
          <p:cNvPr id="1048655" name="Text 6"/>
          <p:cNvSpPr txBox="1"/>
          <p:nvPr/>
        </p:nvSpPr>
        <p:spPr>
          <a:xfrm>
            <a:off x="1463040" y="2651760"/>
            <a:ext cx="731520" cy="731520"/>
          </a:xfrm>
          <a:prstGeom prst="rect">
            <a:avLst/>
          </a:prstGeom>
          <a:noFill/>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048656" name="Text 7"/>
          <p:cNvSpPr txBox="1"/>
          <p:nvPr/>
        </p:nvSpPr>
        <p:spPr>
          <a:xfrm>
            <a:off x="731520" y="3520440"/>
            <a:ext cx="2194560" cy="548640"/>
          </a:xfrm>
          <a:prstGeom prst="rect">
            <a:avLst/>
          </a:prstGeom>
          <a:noFill/>
        </p:spPr>
        <p:txBody>
          <a:bodyPr wrap="square" lIns="0" tIns="0" rIns="0" bIns="0" rtlCol="0" anchor="ctr"/>
          <a:lstStyle/>
          <a:p>
            <a:pPr marL="0" indent="0" algn="ctr">
              <a:lnSpc>
                <a:spcPct val="110000"/>
              </a:lnSpc>
              <a:buNone/>
            </a:pPr>
            <a:r>
              <a:rPr lang="en-US" sz="1400" b="1" dirty="0">
                <a:solidFill>
                  <a:srgbClr val="FFFFFF"/>
                </a:solidFill>
                <a:latin typeface="Calibri" pitchFamily="34" charset="0"/>
                <a:ea typeface="Calibri" pitchFamily="34" charset="-122"/>
                <a:cs typeface="Calibri" pitchFamily="34" charset="-120"/>
              </a:rPr>
              <a:t>Pelajar SMP/SMA</a:t>
            </a:r>
            <a:endParaRPr lang="en-US" sz="1400" dirty="0"/>
          </a:p>
        </p:txBody>
      </p:sp>
      <p:sp>
        <p:nvSpPr>
          <p:cNvPr id="1048657" name="Text 8"/>
          <p:cNvSpPr txBox="1"/>
          <p:nvPr/>
        </p:nvSpPr>
        <p:spPr>
          <a:xfrm>
            <a:off x="731520" y="4114800"/>
            <a:ext cx="2194560" cy="1600200"/>
          </a:xfrm>
          <a:prstGeom prst="rect">
            <a:avLst/>
          </a:prstGeom>
          <a:noFill/>
        </p:spPr>
        <p:txBody>
          <a:bodyPr wrap="square" lIns="0" tIns="0" rIns="0" bIns="0" rtlCol="0" anchor="ctr"/>
          <a:lstStyle/>
          <a:p>
            <a:pPr marL="0" indent="0" algn="ctr">
              <a:lnSpc>
                <a:spcPct val="125000"/>
              </a:lnSpc>
              <a:buNone/>
            </a:pPr>
            <a:r>
              <a:rPr lang="en-US" sz="1100" dirty="0">
                <a:solidFill>
                  <a:srgbClr val="C9D6CB"/>
                </a:solidFill>
                <a:latin typeface="Calibri" pitchFamily="34" charset="0"/>
                <a:ea typeface="Calibri" pitchFamily="34" charset="-122"/>
                <a:cs typeface="Calibri" pitchFamily="34" charset="-120"/>
              </a:rPr>
              <a:t>Mulai mengenal kebiasaan ramah lingkungan sejak dini</a:t>
            </a:r>
            <a:endParaRPr lang="en-US" sz="1100" dirty="0"/>
          </a:p>
        </p:txBody>
      </p:sp>
      <p:sp>
        <p:nvSpPr>
          <p:cNvPr id="1048658" name="Shape 9"/>
          <p:cNvSpPr/>
          <p:nvPr/>
        </p:nvSpPr>
        <p:spPr>
          <a:xfrm>
            <a:off x="3337560" y="2331720"/>
            <a:ext cx="2560320" cy="3566160"/>
          </a:xfrm>
          <a:prstGeom prst="roundRect">
            <a:avLst>
              <a:gd name="adj" fmla="val 3571"/>
            </a:avLst>
          </a:prstGeom>
          <a:solidFill>
            <a:srgbClr val="234A32"/>
          </a:solidFill>
          <a:ln w="12700">
            <a:solidFill>
              <a:srgbClr val="3C6B4A"/>
            </a:solidFill>
            <a:prstDash val="solid"/>
          </a:ln>
        </p:spPr>
      </p:sp>
      <p:sp>
        <p:nvSpPr>
          <p:cNvPr id="1048659" name="Shape 10"/>
          <p:cNvSpPr/>
          <p:nvPr/>
        </p:nvSpPr>
        <p:spPr>
          <a:xfrm>
            <a:off x="4251960" y="2651760"/>
            <a:ext cx="731520" cy="731520"/>
          </a:xfrm>
          <a:prstGeom prst="ellipse">
            <a:avLst/>
          </a:prstGeom>
          <a:solidFill>
            <a:srgbClr val="D97B2E"/>
          </a:solidFill>
        </p:spPr>
      </p:sp>
      <p:sp>
        <p:nvSpPr>
          <p:cNvPr id="1048660" name="Text 11"/>
          <p:cNvSpPr txBox="1"/>
          <p:nvPr/>
        </p:nvSpPr>
        <p:spPr>
          <a:xfrm>
            <a:off x="4251960" y="2651760"/>
            <a:ext cx="731520" cy="731520"/>
          </a:xfrm>
          <a:prstGeom prst="rect">
            <a:avLst/>
          </a:prstGeom>
          <a:noFill/>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048661" name="Text 12"/>
          <p:cNvSpPr txBox="1"/>
          <p:nvPr/>
        </p:nvSpPr>
        <p:spPr>
          <a:xfrm>
            <a:off x="3520440" y="3520440"/>
            <a:ext cx="2194560" cy="548640"/>
          </a:xfrm>
          <a:prstGeom prst="rect">
            <a:avLst/>
          </a:prstGeom>
          <a:noFill/>
        </p:spPr>
        <p:txBody>
          <a:bodyPr wrap="square" lIns="0" tIns="0" rIns="0" bIns="0" rtlCol="0" anchor="ctr"/>
          <a:lstStyle/>
          <a:p>
            <a:pPr marL="0" indent="0" algn="ctr">
              <a:lnSpc>
                <a:spcPct val="110000"/>
              </a:lnSpc>
              <a:buNone/>
            </a:pPr>
            <a:r>
              <a:rPr lang="en-US" sz="1400" b="1" dirty="0">
                <a:solidFill>
                  <a:srgbClr val="FFFFFF"/>
                </a:solidFill>
                <a:latin typeface="Calibri" pitchFamily="34" charset="0"/>
                <a:ea typeface="Calibri" pitchFamily="34" charset="-122"/>
                <a:cs typeface="Calibri" pitchFamily="34" charset="-120"/>
              </a:rPr>
              <a:t>Mahasiswa</a:t>
            </a:r>
            <a:endParaRPr lang="en-US" sz="1400" dirty="0"/>
          </a:p>
        </p:txBody>
      </p:sp>
      <p:sp>
        <p:nvSpPr>
          <p:cNvPr id="1048662" name="Text 13"/>
          <p:cNvSpPr txBox="1"/>
          <p:nvPr/>
        </p:nvSpPr>
        <p:spPr>
          <a:xfrm>
            <a:off x="3520440" y="4114800"/>
            <a:ext cx="2194560" cy="1600200"/>
          </a:xfrm>
          <a:prstGeom prst="rect">
            <a:avLst/>
          </a:prstGeom>
          <a:noFill/>
        </p:spPr>
        <p:txBody>
          <a:bodyPr wrap="square" lIns="0" tIns="0" rIns="0" bIns="0" rtlCol="0" anchor="ctr"/>
          <a:lstStyle/>
          <a:p>
            <a:pPr marL="0" indent="0" algn="ctr">
              <a:lnSpc>
                <a:spcPct val="125000"/>
              </a:lnSpc>
              <a:buNone/>
            </a:pPr>
            <a:r>
              <a:rPr lang="en-US" sz="1100" dirty="0">
                <a:solidFill>
                  <a:srgbClr val="C9D6CB"/>
                </a:solidFill>
                <a:latin typeface="Calibri" pitchFamily="34" charset="0"/>
                <a:ea typeface="Calibri" pitchFamily="34" charset="-122"/>
                <a:cs typeface="Calibri" pitchFamily="34" charset="-120"/>
              </a:rPr>
              <a:t>Aktivitas mobilitas tinggi, cocok untuk memantau transportasi</a:t>
            </a:r>
            <a:endParaRPr lang="en-US" sz="1100" dirty="0"/>
          </a:p>
        </p:txBody>
      </p:sp>
      <p:sp>
        <p:nvSpPr>
          <p:cNvPr id="1048663" name="Shape 14"/>
          <p:cNvSpPr/>
          <p:nvPr/>
        </p:nvSpPr>
        <p:spPr>
          <a:xfrm>
            <a:off x="6126480" y="2331720"/>
            <a:ext cx="2560320" cy="3566160"/>
          </a:xfrm>
          <a:prstGeom prst="roundRect">
            <a:avLst>
              <a:gd name="adj" fmla="val 3571"/>
            </a:avLst>
          </a:prstGeom>
          <a:solidFill>
            <a:srgbClr val="234A32"/>
          </a:solidFill>
          <a:ln w="12700">
            <a:solidFill>
              <a:srgbClr val="3C6B4A"/>
            </a:solidFill>
            <a:prstDash val="solid"/>
          </a:ln>
        </p:spPr>
      </p:sp>
      <p:sp>
        <p:nvSpPr>
          <p:cNvPr id="1048664" name="Shape 15"/>
          <p:cNvSpPr/>
          <p:nvPr/>
        </p:nvSpPr>
        <p:spPr>
          <a:xfrm>
            <a:off x="7040880" y="2651760"/>
            <a:ext cx="731520" cy="731520"/>
          </a:xfrm>
          <a:prstGeom prst="ellipse">
            <a:avLst/>
          </a:prstGeom>
          <a:solidFill>
            <a:srgbClr val="D97B2E"/>
          </a:solidFill>
        </p:spPr>
      </p:sp>
      <p:sp>
        <p:nvSpPr>
          <p:cNvPr id="1048665" name="Text 16"/>
          <p:cNvSpPr txBox="1"/>
          <p:nvPr/>
        </p:nvSpPr>
        <p:spPr>
          <a:xfrm>
            <a:off x="7040880" y="2651760"/>
            <a:ext cx="731520" cy="731520"/>
          </a:xfrm>
          <a:prstGeom prst="rect">
            <a:avLst/>
          </a:prstGeom>
          <a:noFill/>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048666" name="Text 17"/>
          <p:cNvSpPr txBox="1"/>
          <p:nvPr/>
        </p:nvSpPr>
        <p:spPr>
          <a:xfrm>
            <a:off x="6309360" y="3520440"/>
            <a:ext cx="2194560" cy="548640"/>
          </a:xfrm>
          <a:prstGeom prst="rect">
            <a:avLst/>
          </a:prstGeom>
          <a:noFill/>
        </p:spPr>
        <p:txBody>
          <a:bodyPr wrap="square" lIns="0" tIns="0" rIns="0" bIns="0" rtlCol="0" anchor="ctr"/>
          <a:lstStyle/>
          <a:p>
            <a:pPr marL="0" indent="0" algn="ctr">
              <a:lnSpc>
                <a:spcPct val="110000"/>
              </a:lnSpc>
              <a:buNone/>
            </a:pPr>
            <a:r>
              <a:rPr lang="en-US" sz="1400" b="1" dirty="0">
                <a:solidFill>
                  <a:srgbClr val="FFFFFF"/>
                </a:solidFill>
                <a:latin typeface="Calibri" pitchFamily="34" charset="0"/>
                <a:ea typeface="Calibri" pitchFamily="34" charset="-122"/>
                <a:cs typeface="Calibri" pitchFamily="34" charset="-120"/>
              </a:rPr>
              <a:t>Pekerja Muda</a:t>
            </a:r>
            <a:endParaRPr lang="en-US" sz="1400" dirty="0"/>
          </a:p>
        </p:txBody>
      </p:sp>
      <p:sp>
        <p:nvSpPr>
          <p:cNvPr id="1048667" name="Text 18"/>
          <p:cNvSpPr txBox="1"/>
          <p:nvPr/>
        </p:nvSpPr>
        <p:spPr>
          <a:xfrm>
            <a:off x="6309360" y="4114800"/>
            <a:ext cx="2194560" cy="1600200"/>
          </a:xfrm>
          <a:prstGeom prst="rect">
            <a:avLst/>
          </a:prstGeom>
          <a:noFill/>
        </p:spPr>
        <p:txBody>
          <a:bodyPr wrap="square" lIns="0" tIns="0" rIns="0" bIns="0" rtlCol="0" anchor="ctr"/>
          <a:lstStyle/>
          <a:p>
            <a:pPr marL="0" indent="0" algn="ctr">
              <a:lnSpc>
                <a:spcPct val="125000"/>
              </a:lnSpc>
              <a:buNone/>
            </a:pPr>
            <a:r>
              <a:rPr lang="en-US" sz="1100" dirty="0">
                <a:solidFill>
                  <a:srgbClr val="C9D6CB"/>
                </a:solidFill>
                <a:latin typeface="Calibri" pitchFamily="34" charset="0"/>
                <a:ea typeface="Calibri" pitchFamily="34" charset="-122"/>
                <a:cs typeface="Calibri" pitchFamily="34" charset="-120"/>
              </a:rPr>
              <a:t>Rutinitas harian yang konsisten untuk dicatat</a:t>
            </a:r>
            <a:endParaRPr lang="en-US" sz="1100" dirty="0"/>
          </a:p>
        </p:txBody>
      </p:sp>
      <p:sp>
        <p:nvSpPr>
          <p:cNvPr id="1048668" name="Shape 19"/>
          <p:cNvSpPr/>
          <p:nvPr/>
        </p:nvSpPr>
        <p:spPr>
          <a:xfrm>
            <a:off x="8915400" y="2331720"/>
            <a:ext cx="2560320" cy="3566160"/>
          </a:xfrm>
          <a:prstGeom prst="roundRect">
            <a:avLst>
              <a:gd name="adj" fmla="val 3571"/>
            </a:avLst>
          </a:prstGeom>
          <a:solidFill>
            <a:srgbClr val="234A32"/>
          </a:solidFill>
          <a:ln w="12700">
            <a:solidFill>
              <a:srgbClr val="3C6B4A"/>
            </a:solidFill>
            <a:prstDash val="solid"/>
          </a:ln>
        </p:spPr>
      </p:sp>
      <p:sp>
        <p:nvSpPr>
          <p:cNvPr id="1048669" name="Shape 20"/>
          <p:cNvSpPr/>
          <p:nvPr/>
        </p:nvSpPr>
        <p:spPr>
          <a:xfrm>
            <a:off x="9829800" y="2651760"/>
            <a:ext cx="731520" cy="731520"/>
          </a:xfrm>
          <a:prstGeom prst="ellipse">
            <a:avLst/>
          </a:prstGeom>
          <a:solidFill>
            <a:srgbClr val="D97B2E"/>
          </a:solidFill>
        </p:spPr>
      </p:sp>
      <p:sp>
        <p:nvSpPr>
          <p:cNvPr id="1048670" name="Text 21"/>
          <p:cNvSpPr txBox="1"/>
          <p:nvPr/>
        </p:nvSpPr>
        <p:spPr>
          <a:xfrm>
            <a:off x="9829800" y="2651760"/>
            <a:ext cx="731520" cy="731520"/>
          </a:xfrm>
          <a:prstGeom prst="rect">
            <a:avLst/>
          </a:prstGeom>
          <a:noFill/>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048671" name="Text 22"/>
          <p:cNvSpPr txBox="1"/>
          <p:nvPr/>
        </p:nvSpPr>
        <p:spPr>
          <a:xfrm>
            <a:off x="9098280" y="3520440"/>
            <a:ext cx="2194560" cy="548640"/>
          </a:xfrm>
          <a:prstGeom prst="rect">
            <a:avLst/>
          </a:prstGeom>
          <a:noFill/>
        </p:spPr>
        <p:txBody>
          <a:bodyPr wrap="square" lIns="0" tIns="0" rIns="0" bIns="0" rtlCol="0" anchor="ctr"/>
          <a:lstStyle/>
          <a:p>
            <a:pPr marL="0" indent="0" algn="ctr">
              <a:lnSpc>
                <a:spcPct val="110000"/>
              </a:lnSpc>
              <a:buNone/>
            </a:pPr>
            <a:r>
              <a:rPr lang="en-US" sz="1400" b="1" dirty="0">
                <a:solidFill>
                  <a:srgbClr val="FFFFFF"/>
                </a:solidFill>
                <a:latin typeface="Calibri" pitchFamily="34" charset="0"/>
                <a:ea typeface="Calibri" pitchFamily="34" charset="-122"/>
                <a:cs typeface="Calibri" pitchFamily="34" charset="-120"/>
              </a:rPr>
              <a:t>Masyarakat Umum</a:t>
            </a:r>
            <a:endParaRPr lang="en-US" sz="1400" dirty="0"/>
          </a:p>
        </p:txBody>
      </p:sp>
      <p:sp>
        <p:nvSpPr>
          <p:cNvPr id="1048672" name="Text 23"/>
          <p:cNvSpPr txBox="1"/>
          <p:nvPr/>
        </p:nvSpPr>
        <p:spPr>
          <a:xfrm>
            <a:off x="9098280" y="4114800"/>
            <a:ext cx="2194560" cy="1600200"/>
          </a:xfrm>
          <a:prstGeom prst="rect">
            <a:avLst/>
          </a:prstGeom>
          <a:noFill/>
        </p:spPr>
        <p:txBody>
          <a:bodyPr wrap="square" lIns="0" tIns="0" rIns="0" bIns="0" rtlCol="0" anchor="ctr"/>
          <a:lstStyle/>
          <a:p>
            <a:pPr marL="0" indent="0" algn="ctr">
              <a:lnSpc>
                <a:spcPct val="125000"/>
              </a:lnSpc>
              <a:buNone/>
            </a:pPr>
            <a:r>
              <a:rPr lang="en-US" sz="1100" dirty="0">
                <a:solidFill>
                  <a:srgbClr val="C9D6CB"/>
                </a:solidFill>
                <a:latin typeface="Calibri" pitchFamily="34" charset="0"/>
                <a:ea typeface="Calibri" pitchFamily="34" charset="-122"/>
                <a:cs typeface="Calibri" pitchFamily="34" charset="-120"/>
              </a:rPr>
              <a:t>Ingin memahami &amp; mengurangi jejak karbon pribadi</a:t>
            </a:r>
            <a:endParaRPr lang="en-US" sz="1100" dirty="0"/>
          </a:p>
        </p:txBody>
      </p:sp>
      <p:sp>
        <p:nvSpPr>
          <p:cNvPr id="1048673" name="Text 24"/>
          <p:cNvSpPr txBox="1"/>
          <p:nvPr/>
        </p:nvSpPr>
        <p:spPr>
          <a:xfrm>
            <a:off x="548640" y="6473952"/>
            <a:ext cx="7315200" cy="274320"/>
          </a:xfrm>
          <a:prstGeom prst="rect">
            <a:avLst/>
          </a:prstGeom>
          <a:noFill/>
        </p:spPr>
        <p:txBody>
          <a:bodyPr wrap="square" lIns="0" tIns="0" rIns="0" bIns="0" rtlCol="0" anchor="ctr"/>
          <a:lstStyle/>
          <a:p>
            <a:pPr marL="0" indent="0">
              <a:buNone/>
            </a:pPr>
            <a:r>
              <a:rPr lang="en-US" sz="900" dirty="0">
                <a:solidFill>
                  <a:srgbClr val="8FA895"/>
                </a:solidFill>
                <a:latin typeface="Calibri" pitchFamily="34" charset="0"/>
                <a:ea typeface="Calibri" pitchFamily="34" charset="-122"/>
                <a:cs typeface="Calibri" pitchFamily="34" charset="-120"/>
              </a:rPr>
              <a:t>VISTA  •  Proposal Proyek Flutter  •  EcoTrack</a:t>
            </a:r>
            <a:endParaRPr lang="en-US" sz="900" dirty="0"/>
          </a:p>
        </p:txBody>
      </p:sp>
      <p:sp>
        <p:nvSpPr>
          <p:cNvPr id="1048674" name="Text 25"/>
          <p:cNvSpPr txBox="1"/>
          <p:nvPr/>
        </p:nvSpPr>
        <p:spPr>
          <a:xfrm>
            <a:off x="10424160" y="6473952"/>
            <a:ext cx="1188720" cy="274320"/>
          </a:xfrm>
          <a:prstGeom prst="rect">
            <a:avLst/>
          </a:prstGeom>
          <a:noFill/>
        </p:spPr>
        <p:txBody>
          <a:bodyPr wrap="square" lIns="0" tIns="0" rIns="0" bIns="0" rtlCol="0" anchor="ctr"/>
          <a:lstStyle/>
          <a:p>
            <a:pPr marL="0" indent="0" algn="r">
              <a:buNone/>
            </a:pPr>
            <a:r>
              <a:rPr lang="en-US" sz="900" b="1" dirty="0">
                <a:solidFill>
                  <a:srgbClr val="F6D9B8"/>
                </a:solidFill>
                <a:latin typeface="Calibri" pitchFamily="34" charset="0"/>
                <a:ea typeface="Calibri" pitchFamily="34" charset="-122"/>
                <a:cs typeface="Calibri" pitchFamily="34" charset="-120"/>
              </a:rPr>
              <a:t>SDG 13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1048678" name="Shape 0"/>
          <p:cNvSpPr/>
          <p:nvPr/>
        </p:nvSpPr>
        <p:spPr>
          <a:xfrm>
            <a:off x="0" y="0"/>
            <a:ext cx="12188952" cy="6858000"/>
          </a:xfrm>
          <a:prstGeom prst="rect">
            <a:avLst/>
          </a:prstGeom>
          <a:solidFill>
            <a:srgbClr val="FFFFFF"/>
          </a:solidFill>
        </p:spPr>
      </p:sp>
      <p:sp>
        <p:nvSpPr>
          <p:cNvPr id="1048679" name="Text 1"/>
          <p:cNvSpPr txBox="1"/>
          <p:nvPr/>
        </p:nvSpPr>
        <p:spPr>
          <a:xfrm>
            <a:off x="548640" y="320040"/>
            <a:ext cx="7315200" cy="365760"/>
          </a:xfrm>
          <a:prstGeom prst="rect">
            <a:avLst/>
          </a:prstGeom>
          <a:noFill/>
        </p:spPr>
        <p:txBody>
          <a:bodyPr wrap="square" lIns="0" tIns="0" rIns="0" bIns="0" rtlCol="0" anchor="ctr"/>
          <a:lstStyle/>
          <a:p>
            <a:pPr marL="0" indent="0">
              <a:buNone/>
            </a:pPr>
            <a:r>
              <a:rPr lang="en-US" sz="1200" b="1" kern="0" spc="200" dirty="0">
                <a:solidFill>
                  <a:srgbClr val="4C8C5C"/>
                </a:solidFill>
                <a:latin typeface="Calibri" pitchFamily="34" charset="0"/>
                <a:ea typeface="Calibri" pitchFamily="34" charset="-122"/>
                <a:cs typeface="Calibri" pitchFamily="34" charset="-120"/>
              </a:rPr>
              <a:t>04  —  TUJUAN APLIKASI</a:t>
            </a:r>
            <a:endParaRPr lang="en-US" sz="1200" dirty="0"/>
          </a:p>
        </p:txBody>
      </p:sp>
      <p:sp>
        <p:nvSpPr>
          <p:cNvPr id="1048680" name="Text 2"/>
          <p:cNvSpPr txBox="1"/>
          <p:nvPr/>
        </p:nvSpPr>
        <p:spPr>
          <a:xfrm>
            <a:off x="548640" y="777240"/>
            <a:ext cx="8229600" cy="640080"/>
          </a:xfrm>
          <a:prstGeom prst="rect">
            <a:avLst/>
          </a:prstGeom>
          <a:noFill/>
        </p:spPr>
        <p:txBody>
          <a:bodyPr wrap="square" lIns="0" tIns="0" rIns="0" bIns="0" rtlCol="0" anchor="ctr"/>
          <a:lstStyle/>
          <a:p>
            <a:pPr marL="0" indent="0">
              <a:buNone/>
            </a:pPr>
            <a:r>
              <a:rPr lang="en-US" sz="2800" b="1" dirty="0">
                <a:solidFill>
                  <a:srgbClr val="16281D"/>
                </a:solidFill>
                <a:latin typeface="Bookman Old Style" pitchFamily="34" charset="0"/>
                <a:ea typeface="Bookman Old Style" pitchFamily="34" charset="-122"/>
                <a:cs typeface="Bookman Old Style" pitchFamily="34" charset="-120"/>
              </a:rPr>
              <a:t>Tujuan Aplikasi</a:t>
            </a:r>
            <a:endParaRPr lang="en-US" sz="2800" dirty="0"/>
          </a:p>
        </p:txBody>
      </p:sp>
      <p:sp>
        <p:nvSpPr>
          <p:cNvPr id="1048681" name="Shape 3"/>
          <p:cNvSpPr/>
          <p:nvPr/>
        </p:nvSpPr>
        <p:spPr>
          <a:xfrm>
            <a:off x="548640" y="1828800"/>
            <a:ext cx="5257800" cy="1280160"/>
          </a:xfrm>
          <a:prstGeom prst="roundRect">
            <a:avLst>
              <a:gd name="adj" fmla="val 6429"/>
            </a:avLst>
          </a:prstGeom>
          <a:solidFill>
            <a:srgbClr val="E4EEE2"/>
          </a:solidFill>
        </p:spPr>
      </p:sp>
      <p:sp>
        <p:nvSpPr>
          <p:cNvPr id="1048682" name="Shape 4"/>
          <p:cNvSpPr/>
          <p:nvPr/>
        </p:nvSpPr>
        <p:spPr>
          <a:xfrm>
            <a:off x="804672" y="2084832"/>
            <a:ext cx="457200" cy="457200"/>
          </a:xfrm>
          <a:prstGeom prst="roundRect">
            <a:avLst>
              <a:gd name="adj" fmla="val 16000"/>
            </a:avLst>
          </a:prstGeom>
          <a:solidFill>
            <a:srgbClr val="4C8C5C"/>
          </a:solidFill>
        </p:spPr>
      </p:sp>
      <p:sp>
        <p:nvSpPr>
          <p:cNvPr id="1048683" name="Text 5"/>
          <p:cNvSpPr txBox="1"/>
          <p:nvPr/>
        </p:nvSpPr>
        <p:spPr>
          <a:xfrm>
            <a:off x="804672" y="2084832"/>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48684" name="Text 6"/>
          <p:cNvSpPr txBox="1"/>
          <p:nvPr/>
        </p:nvSpPr>
        <p:spPr>
          <a:xfrm>
            <a:off x="1444752" y="1828800"/>
            <a:ext cx="4160520" cy="1280160"/>
          </a:xfrm>
          <a:prstGeom prst="rect">
            <a:avLst/>
          </a:prstGeom>
          <a:noFill/>
        </p:spPr>
        <p:txBody>
          <a:bodyPr wrap="square" lIns="0" tIns="0" rIns="0" bIns="0" rtlCol="0" anchor="ctr"/>
          <a:lstStyle/>
          <a:p>
            <a:pPr marL="0" indent="0">
              <a:lnSpc>
                <a:spcPct val="125000"/>
              </a:lnSpc>
              <a:buNone/>
            </a:pPr>
            <a:r>
              <a:rPr lang="en-US" sz="1400" dirty="0">
                <a:solidFill>
                  <a:srgbClr val="20281F"/>
                </a:solidFill>
                <a:latin typeface="Calibri" pitchFamily="34" charset="0"/>
                <a:ea typeface="Calibri" pitchFamily="34" charset="-122"/>
                <a:cs typeface="Calibri" pitchFamily="34" charset="-120"/>
              </a:rPr>
              <a:t>Meningkatkan kesadaran pengguna terhadap jejak karbon pribadi.</a:t>
            </a:r>
            <a:endParaRPr lang="en-US" sz="1400" dirty="0"/>
          </a:p>
        </p:txBody>
      </p:sp>
      <p:sp>
        <p:nvSpPr>
          <p:cNvPr id="1048685" name="Shape 7"/>
          <p:cNvSpPr/>
          <p:nvPr/>
        </p:nvSpPr>
        <p:spPr>
          <a:xfrm>
            <a:off x="6172200" y="1828800"/>
            <a:ext cx="5257800" cy="1280160"/>
          </a:xfrm>
          <a:prstGeom prst="roundRect">
            <a:avLst>
              <a:gd name="adj" fmla="val 6429"/>
            </a:avLst>
          </a:prstGeom>
          <a:solidFill>
            <a:srgbClr val="FBEEE0"/>
          </a:solidFill>
        </p:spPr>
      </p:sp>
      <p:sp>
        <p:nvSpPr>
          <p:cNvPr id="1048686" name="Shape 8"/>
          <p:cNvSpPr/>
          <p:nvPr/>
        </p:nvSpPr>
        <p:spPr>
          <a:xfrm>
            <a:off x="6428232" y="2084832"/>
            <a:ext cx="457200" cy="457200"/>
          </a:xfrm>
          <a:prstGeom prst="roundRect">
            <a:avLst>
              <a:gd name="adj" fmla="val 16000"/>
            </a:avLst>
          </a:prstGeom>
          <a:solidFill>
            <a:srgbClr val="D97B2E"/>
          </a:solidFill>
        </p:spPr>
      </p:sp>
      <p:sp>
        <p:nvSpPr>
          <p:cNvPr id="1048687" name="Text 9"/>
          <p:cNvSpPr txBox="1"/>
          <p:nvPr/>
        </p:nvSpPr>
        <p:spPr>
          <a:xfrm>
            <a:off x="6428232" y="2084832"/>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48688" name="Text 10"/>
          <p:cNvSpPr txBox="1"/>
          <p:nvPr/>
        </p:nvSpPr>
        <p:spPr>
          <a:xfrm>
            <a:off x="7068312" y="1828800"/>
            <a:ext cx="4160520" cy="1280160"/>
          </a:xfrm>
          <a:prstGeom prst="rect">
            <a:avLst/>
          </a:prstGeom>
          <a:noFill/>
        </p:spPr>
        <p:txBody>
          <a:bodyPr wrap="square" lIns="0" tIns="0" rIns="0" bIns="0" rtlCol="0" anchor="ctr"/>
          <a:lstStyle/>
          <a:p>
            <a:pPr marL="0" indent="0">
              <a:lnSpc>
                <a:spcPct val="125000"/>
              </a:lnSpc>
              <a:buNone/>
            </a:pPr>
            <a:r>
              <a:rPr lang="en-US" sz="1400" dirty="0">
                <a:solidFill>
                  <a:srgbClr val="20281F"/>
                </a:solidFill>
                <a:latin typeface="Calibri" pitchFamily="34" charset="0"/>
                <a:ea typeface="Calibri" pitchFamily="34" charset="-122"/>
                <a:cs typeface="Calibri" pitchFamily="34" charset="-120"/>
              </a:rPr>
              <a:t>Membantu pengguna mencatat aktivitas yang menghasilkan emisi.</a:t>
            </a:r>
            <a:endParaRPr lang="en-US" sz="1400" dirty="0"/>
          </a:p>
        </p:txBody>
      </p:sp>
      <p:sp>
        <p:nvSpPr>
          <p:cNvPr id="1048689" name="Shape 11"/>
          <p:cNvSpPr/>
          <p:nvPr/>
        </p:nvSpPr>
        <p:spPr>
          <a:xfrm>
            <a:off x="548640" y="3310128"/>
            <a:ext cx="5257800" cy="1280160"/>
          </a:xfrm>
          <a:prstGeom prst="roundRect">
            <a:avLst>
              <a:gd name="adj" fmla="val 6429"/>
            </a:avLst>
          </a:prstGeom>
          <a:solidFill>
            <a:srgbClr val="E4EEE2"/>
          </a:solidFill>
        </p:spPr>
      </p:sp>
      <p:sp>
        <p:nvSpPr>
          <p:cNvPr id="1048690" name="Shape 12"/>
          <p:cNvSpPr/>
          <p:nvPr/>
        </p:nvSpPr>
        <p:spPr>
          <a:xfrm>
            <a:off x="804672" y="3566160"/>
            <a:ext cx="457200" cy="457200"/>
          </a:xfrm>
          <a:prstGeom prst="roundRect">
            <a:avLst>
              <a:gd name="adj" fmla="val 16000"/>
            </a:avLst>
          </a:prstGeom>
          <a:solidFill>
            <a:srgbClr val="4C8C5C"/>
          </a:solidFill>
        </p:spPr>
      </p:sp>
      <p:sp>
        <p:nvSpPr>
          <p:cNvPr id="1048691" name="Text 13"/>
          <p:cNvSpPr txBox="1"/>
          <p:nvPr/>
        </p:nvSpPr>
        <p:spPr>
          <a:xfrm>
            <a:off x="804672" y="356616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048692" name="Text 14"/>
          <p:cNvSpPr txBox="1"/>
          <p:nvPr/>
        </p:nvSpPr>
        <p:spPr>
          <a:xfrm>
            <a:off x="1444752" y="3310128"/>
            <a:ext cx="4160520" cy="1280160"/>
          </a:xfrm>
          <a:prstGeom prst="rect">
            <a:avLst/>
          </a:prstGeom>
          <a:noFill/>
        </p:spPr>
        <p:txBody>
          <a:bodyPr wrap="square" lIns="0" tIns="0" rIns="0" bIns="0" rtlCol="0" anchor="ctr"/>
          <a:lstStyle/>
          <a:p>
            <a:pPr marL="0" indent="0">
              <a:lnSpc>
                <a:spcPct val="125000"/>
              </a:lnSpc>
              <a:buNone/>
            </a:pPr>
            <a:r>
              <a:rPr lang="en-US" sz="1400" dirty="0">
                <a:solidFill>
                  <a:srgbClr val="20281F"/>
                </a:solidFill>
                <a:latin typeface="Calibri" pitchFamily="34" charset="0"/>
                <a:ea typeface="Calibri" pitchFamily="34" charset="-122"/>
                <a:cs typeface="Calibri" pitchFamily="34" charset="-120"/>
              </a:rPr>
              <a:t>Menghasilkan estimasi emisi karbon secara sederhana.</a:t>
            </a:r>
            <a:endParaRPr lang="en-US" sz="1400" dirty="0"/>
          </a:p>
        </p:txBody>
      </p:sp>
      <p:sp>
        <p:nvSpPr>
          <p:cNvPr id="1048693" name="Shape 15"/>
          <p:cNvSpPr/>
          <p:nvPr/>
        </p:nvSpPr>
        <p:spPr>
          <a:xfrm>
            <a:off x="6172200" y="3310128"/>
            <a:ext cx="5257800" cy="1280160"/>
          </a:xfrm>
          <a:prstGeom prst="roundRect">
            <a:avLst>
              <a:gd name="adj" fmla="val 6429"/>
            </a:avLst>
          </a:prstGeom>
          <a:solidFill>
            <a:srgbClr val="FBEEE0"/>
          </a:solidFill>
        </p:spPr>
      </p:sp>
      <p:sp>
        <p:nvSpPr>
          <p:cNvPr id="1048694" name="Shape 16"/>
          <p:cNvSpPr/>
          <p:nvPr/>
        </p:nvSpPr>
        <p:spPr>
          <a:xfrm>
            <a:off x="6428232" y="3566160"/>
            <a:ext cx="457200" cy="457200"/>
          </a:xfrm>
          <a:prstGeom prst="roundRect">
            <a:avLst>
              <a:gd name="adj" fmla="val 16000"/>
            </a:avLst>
          </a:prstGeom>
          <a:solidFill>
            <a:srgbClr val="D97B2E"/>
          </a:solidFill>
        </p:spPr>
      </p:sp>
      <p:sp>
        <p:nvSpPr>
          <p:cNvPr id="1048695" name="Text 17"/>
          <p:cNvSpPr txBox="1"/>
          <p:nvPr/>
        </p:nvSpPr>
        <p:spPr>
          <a:xfrm>
            <a:off x="6428232" y="356616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048696" name="Text 18"/>
          <p:cNvSpPr txBox="1"/>
          <p:nvPr/>
        </p:nvSpPr>
        <p:spPr>
          <a:xfrm>
            <a:off x="7068312" y="3310128"/>
            <a:ext cx="4160520" cy="1280160"/>
          </a:xfrm>
          <a:prstGeom prst="rect">
            <a:avLst/>
          </a:prstGeom>
          <a:noFill/>
        </p:spPr>
        <p:txBody>
          <a:bodyPr wrap="square" lIns="0" tIns="0" rIns="0" bIns="0" rtlCol="0" anchor="ctr"/>
          <a:lstStyle/>
          <a:p>
            <a:pPr marL="0" indent="0">
              <a:lnSpc>
                <a:spcPct val="125000"/>
              </a:lnSpc>
              <a:buNone/>
            </a:pPr>
            <a:r>
              <a:rPr lang="en-US" sz="1400" dirty="0">
                <a:solidFill>
                  <a:srgbClr val="20281F"/>
                </a:solidFill>
                <a:latin typeface="Calibri" pitchFamily="34" charset="0"/>
                <a:ea typeface="Calibri" pitchFamily="34" charset="-122"/>
                <a:cs typeface="Calibri" pitchFamily="34" charset="-120"/>
              </a:rPr>
              <a:t>Menampilkan perkembangan jejak karbon dari data yang tercatat.</a:t>
            </a:r>
            <a:endParaRPr lang="en-US" sz="1400" dirty="0"/>
          </a:p>
        </p:txBody>
      </p:sp>
      <p:sp>
        <p:nvSpPr>
          <p:cNvPr id="1048697" name="Shape 19"/>
          <p:cNvSpPr/>
          <p:nvPr/>
        </p:nvSpPr>
        <p:spPr>
          <a:xfrm>
            <a:off x="548640" y="4791456"/>
            <a:ext cx="5257800" cy="1280160"/>
          </a:xfrm>
          <a:prstGeom prst="roundRect">
            <a:avLst>
              <a:gd name="adj" fmla="val 6429"/>
            </a:avLst>
          </a:prstGeom>
          <a:solidFill>
            <a:srgbClr val="E4EEE2"/>
          </a:solidFill>
        </p:spPr>
      </p:sp>
      <p:sp>
        <p:nvSpPr>
          <p:cNvPr id="1048698" name="Shape 20"/>
          <p:cNvSpPr/>
          <p:nvPr/>
        </p:nvSpPr>
        <p:spPr>
          <a:xfrm>
            <a:off x="804672" y="5047488"/>
            <a:ext cx="457200" cy="457200"/>
          </a:xfrm>
          <a:prstGeom prst="roundRect">
            <a:avLst>
              <a:gd name="adj" fmla="val 16000"/>
            </a:avLst>
          </a:prstGeom>
          <a:solidFill>
            <a:srgbClr val="4C8C5C"/>
          </a:solidFill>
        </p:spPr>
      </p:sp>
      <p:sp>
        <p:nvSpPr>
          <p:cNvPr id="1048699" name="Text 21"/>
          <p:cNvSpPr txBox="1"/>
          <p:nvPr/>
        </p:nvSpPr>
        <p:spPr>
          <a:xfrm>
            <a:off x="804672" y="5047488"/>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048700" name="Text 22"/>
          <p:cNvSpPr txBox="1"/>
          <p:nvPr/>
        </p:nvSpPr>
        <p:spPr>
          <a:xfrm>
            <a:off x="1444752" y="4791456"/>
            <a:ext cx="4160520" cy="1280160"/>
          </a:xfrm>
          <a:prstGeom prst="rect">
            <a:avLst/>
          </a:prstGeom>
          <a:noFill/>
        </p:spPr>
        <p:txBody>
          <a:bodyPr wrap="square" lIns="0" tIns="0" rIns="0" bIns="0" rtlCol="0" anchor="ctr"/>
          <a:lstStyle/>
          <a:p>
            <a:pPr marL="0" indent="0">
              <a:lnSpc>
                <a:spcPct val="125000"/>
              </a:lnSpc>
              <a:buNone/>
            </a:pPr>
            <a:r>
              <a:rPr lang="en-US" sz="1400" dirty="0">
                <a:solidFill>
                  <a:srgbClr val="20281F"/>
                </a:solidFill>
                <a:latin typeface="Calibri" pitchFamily="34" charset="0"/>
                <a:ea typeface="Calibri" pitchFamily="34" charset="-122"/>
                <a:cs typeface="Calibri" pitchFamily="34" charset="-120"/>
              </a:rPr>
              <a:t>Memberikan tips praktis untuk mengurangi emisi.</a:t>
            </a:r>
            <a:endParaRPr lang="en-US" sz="1400" dirty="0"/>
          </a:p>
        </p:txBody>
      </p:sp>
      <p:sp>
        <p:nvSpPr>
          <p:cNvPr id="1048701" name="Shape 23"/>
          <p:cNvSpPr/>
          <p:nvPr/>
        </p:nvSpPr>
        <p:spPr>
          <a:xfrm>
            <a:off x="6172200" y="4791456"/>
            <a:ext cx="5257800" cy="1280160"/>
          </a:xfrm>
          <a:prstGeom prst="roundRect">
            <a:avLst>
              <a:gd name="adj" fmla="val 6429"/>
            </a:avLst>
          </a:prstGeom>
          <a:solidFill>
            <a:srgbClr val="FBEEE0"/>
          </a:solidFill>
        </p:spPr>
      </p:sp>
      <p:sp>
        <p:nvSpPr>
          <p:cNvPr id="1048702" name="Shape 24"/>
          <p:cNvSpPr/>
          <p:nvPr/>
        </p:nvSpPr>
        <p:spPr>
          <a:xfrm>
            <a:off x="6428232" y="5047488"/>
            <a:ext cx="457200" cy="457200"/>
          </a:xfrm>
          <a:prstGeom prst="roundRect">
            <a:avLst>
              <a:gd name="adj" fmla="val 16000"/>
            </a:avLst>
          </a:prstGeom>
          <a:solidFill>
            <a:srgbClr val="D97B2E"/>
          </a:solidFill>
        </p:spPr>
      </p:sp>
      <p:sp>
        <p:nvSpPr>
          <p:cNvPr id="1048703" name="Text 25"/>
          <p:cNvSpPr txBox="1"/>
          <p:nvPr/>
        </p:nvSpPr>
        <p:spPr>
          <a:xfrm>
            <a:off x="6428232" y="5047488"/>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1048704" name="Text 26"/>
          <p:cNvSpPr txBox="1"/>
          <p:nvPr/>
        </p:nvSpPr>
        <p:spPr>
          <a:xfrm>
            <a:off x="7068312" y="4791456"/>
            <a:ext cx="4160520" cy="1280160"/>
          </a:xfrm>
          <a:prstGeom prst="rect">
            <a:avLst/>
          </a:prstGeom>
          <a:noFill/>
        </p:spPr>
        <p:txBody>
          <a:bodyPr wrap="square" lIns="0" tIns="0" rIns="0" bIns="0" rtlCol="0" anchor="ctr"/>
          <a:lstStyle/>
          <a:p>
            <a:pPr marL="0" indent="0">
              <a:lnSpc>
                <a:spcPct val="125000"/>
              </a:lnSpc>
              <a:buNone/>
            </a:pPr>
            <a:r>
              <a:rPr lang="en-US" sz="1400" dirty="0">
                <a:solidFill>
                  <a:srgbClr val="20281F"/>
                </a:solidFill>
                <a:latin typeface="Calibri" pitchFamily="34" charset="0"/>
                <a:ea typeface="Calibri" pitchFamily="34" charset="-122"/>
                <a:cs typeface="Calibri" pitchFamily="34" charset="-120"/>
              </a:rPr>
              <a:t>Mendorong tindakan ramah lingkungan lewat challenge &amp; achievement.</a:t>
            </a:r>
            <a:endParaRPr lang="en-US" sz="1400" dirty="0"/>
          </a:p>
        </p:txBody>
      </p:sp>
      <p:sp>
        <p:nvSpPr>
          <p:cNvPr id="1048705" name="Text 27"/>
          <p:cNvSpPr txBox="1"/>
          <p:nvPr/>
        </p:nvSpPr>
        <p:spPr>
          <a:xfrm>
            <a:off x="548640" y="6473952"/>
            <a:ext cx="7315200" cy="274320"/>
          </a:xfrm>
          <a:prstGeom prst="rect">
            <a:avLst/>
          </a:prstGeom>
          <a:noFill/>
        </p:spPr>
        <p:txBody>
          <a:bodyPr wrap="square" lIns="0" tIns="0" rIns="0" bIns="0" rtlCol="0" anchor="ctr"/>
          <a:lstStyle/>
          <a:p>
            <a:pPr marL="0" indent="0">
              <a:buNone/>
            </a:pPr>
            <a:r>
              <a:rPr lang="en-US" sz="900" dirty="0">
                <a:solidFill>
                  <a:srgbClr val="5B6B5E"/>
                </a:solidFill>
                <a:latin typeface="Calibri" pitchFamily="34" charset="0"/>
                <a:ea typeface="Calibri" pitchFamily="34" charset="-122"/>
                <a:cs typeface="Calibri" pitchFamily="34" charset="-120"/>
              </a:rPr>
              <a:t>VISTA  •  Proposal Proyek Flutter  •  EcoTrack</a:t>
            </a:r>
            <a:endParaRPr lang="en-US" sz="900" dirty="0"/>
          </a:p>
        </p:txBody>
      </p:sp>
      <p:sp>
        <p:nvSpPr>
          <p:cNvPr id="1048706" name="Text 28"/>
          <p:cNvSpPr txBox="1"/>
          <p:nvPr/>
        </p:nvSpPr>
        <p:spPr>
          <a:xfrm>
            <a:off x="10424160" y="6473952"/>
            <a:ext cx="1188720" cy="274320"/>
          </a:xfrm>
          <a:prstGeom prst="rect">
            <a:avLst/>
          </a:prstGeom>
          <a:noFill/>
        </p:spPr>
        <p:txBody>
          <a:bodyPr wrap="square" lIns="0" tIns="0" rIns="0" bIns="0" rtlCol="0" anchor="ctr"/>
          <a:lstStyle/>
          <a:p>
            <a:pPr marL="0" indent="0" algn="r">
              <a:buNone/>
            </a:pPr>
            <a:r>
              <a:rPr lang="en-US" sz="900" b="1" dirty="0">
                <a:solidFill>
                  <a:srgbClr val="4C8C5C"/>
                </a:solidFill>
                <a:latin typeface="Calibri" pitchFamily="34" charset="0"/>
                <a:ea typeface="Calibri" pitchFamily="34" charset="-122"/>
                <a:cs typeface="Calibri" pitchFamily="34" charset="-120"/>
              </a:rPr>
              <a:t>SDG 13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1048710" name="Shape 0"/>
          <p:cNvSpPr/>
          <p:nvPr/>
        </p:nvSpPr>
        <p:spPr>
          <a:xfrm>
            <a:off x="0" y="0"/>
            <a:ext cx="12188952" cy="6858000"/>
          </a:xfrm>
          <a:prstGeom prst="rect">
            <a:avLst/>
          </a:prstGeom>
          <a:solidFill>
            <a:srgbClr val="16281D"/>
          </a:solidFill>
        </p:spPr>
      </p:sp>
      <p:sp>
        <p:nvSpPr>
          <p:cNvPr id="1048711" name="Shape 1"/>
          <p:cNvSpPr/>
          <p:nvPr/>
        </p:nvSpPr>
        <p:spPr>
          <a:xfrm>
            <a:off x="7406640" y="0"/>
            <a:ext cx="4782312" cy="6858000"/>
          </a:xfrm>
          <a:prstGeom prst="rect">
            <a:avLst/>
          </a:prstGeom>
          <a:solidFill>
            <a:srgbClr val="234A32"/>
          </a:solidFill>
        </p:spPr>
      </p:sp>
      <p:sp>
        <p:nvSpPr>
          <p:cNvPr id="1048712" name="Shape 2"/>
          <p:cNvSpPr/>
          <p:nvPr/>
        </p:nvSpPr>
        <p:spPr>
          <a:xfrm>
            <a:off x="7863840" y="914400"/>
            <a:ext cx="3840480" cy="3840480"/>
          </a:xfrm>
          <a:prstGeom prst="ellipse">
            <a:avLst/>
          </a:prstGeom>
          <a:solidFill>
            <a:srgbClr val="D97B2E">
              <a:alpha val="22000"/>
            </a:srgbClr>
          </a:solidFill>
        </p:spPr>
      </p:sp>
      <p:sp>
        <p:nvSpPr>
          <p:cNvPr id="1048713" name="Shape 3"/>
          <p:cNvSpPr/>
          <p:nvPr/>
        </p:nvSpPr>
        <p:spPr>
          <a:xfrm>
            <a:off x="9052560" y="2331720"/>
            <a:ext cx="1554480" cy="1554480"/>
          </a:xfrm>
          <a:prstGeom prst="ellipse">
            <a:avLst/>
          </a:prstGeom>
          <a:solidFill>
            <a:srgbClr val="D97B2E"/>
          </a:solidFill>
        </p:spPr>
      </p:sp>
      <p:sp>
        <p:nvSpPr>
          <p:cNvPr id="1048714" name="Text 4"/>
          <p:cNvSpPr txBox="1"/>
          <p:nvPr/>
        </p:nvSpPr>
        <p:spPr>
          <a:xfrm>
            <a:off x="9052560" y="2331720"/>
            <a:ext cx="1554480" cy="1554480"/>
          </a:xfrm>
          <a:prstGeom prst="rect">
            <a:avLst/>
          </a:prstGeom>
          <a:noFill/>
        </p:spPr>
        <p:txBody>
          <a:bodyPr wrap="square" lIns="0" tIns="0" rIns="0" bIns="0" rtlCol="0" anchor="ctr"/>
          <a:lstStyle/>
          <a:p>
            <a:pPr marL="0" indent="0" algn="ctr">
              <a:buNone/>
            </a:pPr>
            <a:r>
              <a:rPr lang="en-US" sz="5200" dirty="0">
                <a:solidFill>
                  <a:srgbClr val="000000"/>
                </a:solidFill>
              </a:rPr>
              <a:t>🌱</a:t>
            </a:r>
            <a:endParaRPr lang="en-US" sz="5200" dirty="0"/>
          </a:p>
        </p:txBody>
      </p:sp>
      <p:sp>
        <p:nvSpPr>
          <p:cNvPr id="1048715" name="Text 5"/>
          <p:cNvSpPr txBox="1"/>
          <p:nvPr/>
        </p:nvSpPr>
        <p:spPr>
          <a:xfrm>
            <a:off x="548640" y="320040"/>
            <a:ext cx="7315200" cy="365760"/>
          </a:xfrm>
          <a:prstGeom prst="rect">
            <a:avLst/>
          </a:prstGeom>
          <a:noFill/>
        </p:spPr>
        <p:txBody>
          <a:bodyPr wrap="square" lIns="0" tIns="0" rIns="0" bIns="0" rtlCol="0" anchor="ctr"/>
          <a:lstStyle/>
          <a:p>
            <a:pPr marL="0" indent="0">
              <a:buNone/>
            </a:pPr>
            <a:r>
              <a:rPr lang="en-US" sz="1200" b="1" kern="0" spc="200" dirty="0">
                <a:solidFill>
                  <a:srgbClr val="F6D9B8"/>
                </a:solidFill>
                <a:latin typeface="Calibri" pitchFamily="34" charset="0"/>
                <a:ea typeface="Calibri" pitchFamily="34" charset="-122"/>
                <a:cs typeface="Calibri" pitchFamily="34" charset="-120"/>
              </a:rPr>
              <a:t>05  —  NAMA APLIKASI</a:t>
            </a:r>
            <a:endParaRPr lang="en-US" sz="1200" dirty="0"/>
          </a:p>
        </p:txBody>
      </p:sp>
      <p:sp>
        <p:nvSpPr>
          <p:cNvPr id="1048716" name="Text 6"/>
          <p:cNvSpPr txBox="1"/>
          <p:nvPr/>
        </p:nvSpPr>
        <p:spPr>
          <a:xfrm>
            <a:off x="548640" y="1737360"/>
            <a:ext cx="6400800" cy="1188720"/>
          </a:xfrm>
          <a:prstGeom prst="rect">
            <a:avLst/>
          </a:prstGeom>
          <a:noFill/>
        </p:spPr>
        <p:txBody>
          <a:bodyPr wrap="square" lIns="0" tIns="0" rIns="0" bIns="0" rtlCol="0" anchor="ctr"/>
          <a:lstStyle/>
          <a:p>
            <a:pPr marL="0" indent="0">
              <a:buNone/>
            </a:pPr>
            <a:r>
              <a:rPr lang="en-US" sz="5400" b="1" dirty="0">
                <a:solidFill>
                  <a:srgbClr val="F4EFE4"/>
                </a:solidFill>
                <a:latin typeface="Bookman Old Style" pitchFamily="34" charset="0"/>
                <a:ea typeface="Bookman Old Style" pitchFamily="34" charset="-122"/>
                <a:cs typeface="Bookman Old Style" pitchFamily="34" charset="-120"/>
              </a:rPr>
              <a:t>EcoTrack</a:t>
            </a:r>
            <a:endParaRPr lang="en-US" sz="5400" dirty="0"/>
          </a:p>
        </p:txBody>
      </p:sp>
      <p:sp>
        <p:nvSpPr>
          <p:cNvPr id="1048717" name="Text 7"/>
          <p:cNvSpPr txBox="1"/>
          <p:nvPr/>
        </p:nvSpPr>
        <p:spPr>
          <a:xfrm>
            <a:off x="548640" y="2743200"/>
            <a:ext cx="6400800" cy="502920"/>
          </a:xfrm>
          <a:prstGeom prst="rect">
            <a:avLst/>
          </a:prstGeom>
          <a:noFill/>
        </p:spPr>
        <p:txBody>
          <a:bodyPr wrap="square" lIns="0" tIns="0" rIns="0" bIns="0" rtlCol="0" anchor="ctr"/>
          <a:lstStyle/>
          <a:p>
            <a:pPr marL="0" indent="0">
              <a:buNone/>
            </a:pPr>
            <a:r>
              <a:rPr lang="en-US" sz="1600" i="1" dirty="0">
                <a:solidFill>
                  <a:srgbClr val="F6D9B8"/>
                </a:solidFill>
                <a:latin typeface="Calibri" pitchFamily="34" charset="0"/>
                <a:ea typeface="Calibri" pitchFamily="34" charset="-122"/>
                <a:cs typeface="Calibri" pitchFamily="34" charset="-120"/>
              </a:rPr>
              <a:t>“Track Your Impact, Change Your Future”</a:t>
            </a:r>
            <a:endParaRPr lang="en-US" sz="1600" dirty="0"/>
          </a:p>
        </p:txBody>
      </p:sp>
      <p:sp>
        <p:nvSpPr>
          <p:cNvPr id="1048718" name="Text 8"/>
          <p:cNvSpPr txBox="1"/>
          <p:nvPr/>
        </p:nvSpPr>
        <p:spPr>
          <a:xfrm>
            <a:off x="548640" y="3429000"/>
            <a:ext cx="6400800" cy="1463040"/>
          </a:xfrm>
          <a:prstGeom prst="rect">
            <a:avLst/>
          </a:prstGeom>
          <a:noFill/>
        </p:spPr>
        <p:txBody>
          <a:bodyPr wrap="square" lIns="0" tIns="0" rIns="0" bIns="0" rtlCol="0" anchor="ctr"/>
          <a:lstStyle/>
          <a:p>
            <a:pPr marL="0" indent="0">
              <a:lnSpc>
                <a:spcPct val="135000"/>
              </a:lnSpc>
              <a:buNone/>
            </a:pPr>
            <a:r>
              <a:rPr lang="en-US" sz="1350" dirty="0">
                <a:solidFill>
                  <a:srgbClr val="D8E3D9"/>
                </a:solidFill>
                <a:latin typeface="Calibri" pitchFamily="34" charset="0"/>
                <a:ea typeface="Calibri" pitchFamily="34" charset="-122"/>
                <a:cs typeface="Calibri" pitchFamily="34" charset="-120"/>
              </a:rPr>
              <a:t>EcoTrack adalah aplikasi mobile yang membantu pengguna memantau jejak karbon dari aktivitas sehari-hari — mencatat transportasi, penggunaan listrik, dan konsumsi makanan, lalu menghitung estimasi emisinya secara otomatis.</a:t>
            </a:r>
            <a:endParaRPr lang="en-US" sz="1350" dirty="0"/>
          </a:p>
        </p:txBody>
      </p:sp>
      <p:sp>
        <p:nvSpPr>
          <p:cNvPr id="1048719" name="Shape 9"/>
          <p:cNvSpPr/>
          <p:nvPr/>
        </p:nvSpPr>
        <p:spPr>
          <a:xfrm>
            <a:off x="548640" y="5074920"/>
            <a:ext cx="1325880" cy="457200"/>
          </a:xfrm>
          <a:prstGeom prst="roundRect">
            <a:avLst>
              <a:gd name="adj" fmla="val 50000"/>
            </a:avLst>
          </a:prstGeom>
          <a:solidFill>
            <a:srgbClr val="FFFFFF">
              <a:alpha val="12000"/>
            </a:srgbClr>
          </a:solidFill>
          <a:ln w="12700">
            <a:solidFill>
              <a:srgbClr val="3C6B4A"/>
            </a:solidFill>
            <a:prstDash val="solid"/>
          </a:ln>
        </p:spPr>
      </p:sp>
      <p:sp>
        <p:nvSpPr>
          <p:cNvPr id="1048720" name="Text 10"/>
          <p:cNvSpPr txBox="1"/>
          <p:nvPr/>
        </p:nvSpPr>
        <p:spPr>
          <a:xfrm>
            <a:off x="548640" y="5074920"/>
            <a:ext cx="1325880" cy="457200"/>
          </a:xfrm>
          <a:prstGeom prst="rect">
            <a:avLst/>
          </a:prstGeom>
          <a:noFill/>
        </p:spPr>
        <p:txBody>
          <a:bodyPr wrap="square" lIns="0" tIns="0" rIns="0" bIns="0" rtlCol="0" anchor="ctr"/>
          <a:lstStyle/>
          <a:p>
            <a:pPr marL="0" indent="0" algn="ctr">
              <a:buNone/>
            </a:pPr>
            <a:r>
              <a:rPr lang="en-US" sz="1100" b="1" dirty="0">
                <a:solidFill>
                  <a:srgbClr val="F6D9B8"/>
                </a:solidFill>
                <a:latin typeface="Calibri" pitchFamily="34" charset="0"/>
                <a:ea typeface="Calibri" pitchFamily="34" charset="-122"/>
                <a:cs typeface="Calibri" pitchFamily="34" charset="-120"/>
              </a:rPr>
              <a:t>Flutter</a:t>
            </a:r>
            <a:endParaRPr lang="en-US" sz="1100" dirty="0"/>
          </a:p>
        </p:txBody>
      </p:sp>
      <p:sp>
        <p:nvSpPr>
          <p:cNvPr id="1048721" name="Shape 11"/>
          <p:cNvSpPr/>
          <p:nvPr/>
        </p:nvSpPr>
        <p:spPr>
          <a:xfrm>
            <a:off x="2029968" y="5074920"/>
            <a:ext cx="1325880" cy="457200"/>
          </a:xfrm>
          <a:prstGeom prst="roundRect">
            <a:avLst>
              <a:gd name="adj" fmla="val 50000"/>
            </a:avLst>
          </a:prstGeom>
          <a:solidFill>
            <a:srgbClr val="FFFFFF">
              <a:alpha val="12000"/>
            </a:srgbClr>
          </a:solidFill>
          <a:ln w="12700">
            <a:solidFill>
              <a:srgbClr val="3C6B4A"/>
            </a:solidFill>
            <a:prstDash val="solid"/>
          </a:ln>
        </p:spPr>
      </p:sp>
      <p:sp>
        <p:nvSpPr>
          <p:cNvPr id="1048722" name="Text 12"/>
          <p:cNvSpPr txBox="1"/>
          <p:nvPr/>
        </p:nvSpPr>
        <p:spPr>
          <a:xfrm>
            <a:off x="2029968" y="5074920"/>
            <a:ext cx="1325880" cy="457200"/>
          </a:xfrm>
          <a:prstGeom prst="rect">
            <a:avLst/>
          </a:prstGeom>
          <a:noFill/>
        </p:spPr>
        <p:txBody>
          <a:bodyPr wrap="square" lIns="0" tIns="0" rIns="0" bIns="0" rtlCol="0" anchor="ctr"/>
          <a:lstStyle/>
          <a:p>
            <a:pPr marL="0" indent="0" algn="ctr">
              <a:buNone/>
            </a:pPr>
            <a:r>
              <a:rPr lang="en-US" sz="1100" b="1" dirty="0">
                <a:solidFill>
                  <a:srgbClr val="F6D9B8"/>
                </a:solidFill>
                <a:latin typeface="Calibri" pitchFamily="34" charset="0"/>
                <a:ea typeface="Calibri" pitchFamily="34" charset="-122"/>
                <a:cs typeface="Calibri" pitchFamily="34" charset="-120"/>
              </a:rPr>
              <a:t>Dart</a:t>
            </a:r>
            <a:endParaRPr lang="en-US" sz="1100" dirty="0"/>
          </a:p>
        </p:txBody>
      </p:sp>
      <p:sp>
        <p:nvSpPr>
          <p:cNvPr id="1048723" name="Shape 13"/>
          <p:cNvSpPr/>
          <p:nvPr/>
        </p:nvSpPr>
        <p:spPr>
          <a:xfrm>
            <a:off x="3511296" y="5074920"/>
            <a:ext cx="1325880" cy="457200"/>
          </a:xfrm>
          <a:prstGeom prst="roundRect">
            <a:avLst>
              <a:gd name="adj" fmla="val 50000"/>
            </a:avLst>
          </a:prstGeom>
          <a:solidFill>
            <a:srgbClr val="FFFFFF">
              <a:alpha val="12000"/>
            </a:srgbClr>
          </a:solidFill>
          <a:ln w="12700">
            <a:solidFill>
              <a:srgbClr val="3C6B4A"/>
            </a:solidFill>
            <a:prstDash val="solid"/>
          </a:ln>
        </p:spPr>
      </p:sp>
      <p:sp>
        <p:nvSpPr>
          <p:cNvPr id="1048724" name="Text 14"/>
          <p:cNvSpPr txBox="1"/>
          <p:nvPr/>
        </p:nvSpPr>
        <p:spPr>
          <a:xfrm>
            <a:off x="3511296" y="5074920"/>
            <a:ext cx="1325880" cy="457200"/>
          </a:xfrm>
          <a:prstGeom prst="rect">
            <a:avLst/>
          </a:prstGeom>
          <a:noFill/>
        </p:spPr>
        <p:txBody>
          <a:bodyPr wrap="square" lIns="0" tIns="0" rIns="0" bIns="0" rtlCol="0" anchor="ctr"/>
          <a:lstStyle/>
          <a:p>
            <a:pPr marL="0" indent="0" algn="ctr">
              <a:buNone/>
            </a:pPr>
            <a:r>
              <a:rPr lang="en-US" sz="1100" b="1" dirty="0">
                <a:solidFill>
                  <a:srgbClr val="F6D9B8"/>
                </a:solidFill>
                <a:latin typeface="Calibri" pitchFamily="34" charset="0"/>
                <a:ea typeface="Calibri" pitchFamily="34" charset="-122"/>
                <a:cs typeface="Calibri" pitchFamily="34" charset="-120"/>
              </a:rPr>
              <a:t>Material UI</a:t>
            </a:r>
            <a:endParaRPr lang="en-US" sz="1100" dirty="0"/>
          </a:p>
        </p:txBody>
      </p:sp>
      <p:sp>
        <p:nvSpPr>
          <p:cNvPr id="1048725" name="Shape 15"/>
          <p:cNvSpPr/>
          <p:nvPr/>
        </p:nvSpPr>
        <p:spPr>
          <a:xfrm>
            <a:off x="4992624" y="5074920"/>
            <a:ext cx="1325880" cy="457200"/>
          </a:xfrm>
          <a:prstGeom prst="roundRect">
            <a:avLst>
              <a:gd name="adj" fmla="val 50000"/>
            </a:avLst>
          </a:prstGeom>
          <a:solidFill>
            <a:srgbClr val="FFFFFF">
              <a:alpha val="12000"/>
            </a:srgbClr>
          </a:solidFill>
          <a:ln w="12700">
            <a:solidFill>
              <a:srgbClr val="3C6B4A"/>
            </a:solidFill>
            <a:prstDash val="solid"/>
          </a:ln>
        </p:spPr>
      </p:sp>
      <p:sp>
        <p:nvSpPr>
          <p:cNvPr id="1048726" name="Text 16"/>
          <p:cNvSpPr txBox="1"/>
          <p:nvPr/>
        </p:nvSpPr>
        <p:spPr>
          <a:xfrm>
            <a:off x="4992624" y="5074920"/>
            <a:ext cx="1325880" cy="457200"/>
          </a:xfrm>
          <a:prstGeom prst="rect">
            <a:avLst/>
          </a:prstGeom>
          <a:noFill/>
        </p:spPr>
        <p:txBody>
          <a:bodyPr wrap="square" lIns="0" tIns="0" rIns="0" bIns="0" rtlCol="0" anchor="ctr"/>
          <a:lstStyle/>
          <a:p>
            <a:pPr marL="0" indent="0" algn="ctr">
              <a:buNone/>
            </a:pPr>
            <a:r>
              <a:rPr lang="en-US" sz="1100" b="1" dirty="0">
                <a:solidFill>
                  <a:srgbClr val="F6D9B8"/>
                </a:solidFill>
                <a:latin typeface="Calibri" pitchFamily="34" charset="0"/>
                <a:ea typeface="Calibri" pitchFamily="34" charset="-122"/>
                <a:cs typeface="Calibri" pitchFamily="34" charset="-120"/>
              </a:rPr>
              <a:t>Local Data</a:t>
            </a:r>
            <a:endParaRPr lang="en-US" sz="1100" dirty="0"/>
          </a:p>
        </p:txBody>
      </p:sp>
      <p:sp>
        <p:nvSpPr>
          <p:cNvPr id="1048727" name="Text 17"/>
          <p:cNvSpPr txBox="1"/>
          <p:nvPr/>
        </p:nvSpPr>
        <p:spPr>
          <a:xfrm>
            <a:off x="548640" y="6473952"/>
            <a:ext cx="7315200" cy="274320"/>
          </a:xfrm>
          <a:prstGeom prst="rect">
            <a:avLst/>
          </a:prstGeom>
          <a:noFill/>
        </p:spPr>
        <p:txBody>
          <a:bodyPr wrap="square" lIns="0" tIns="0" rIns="0" bIns="0" rtlCol="0" anchor="ctr"/>
          <a:lstStyle/>
          <a:p>
            <a:pPr marL="0" indent="0">
              <a:buNone/>
            </a:pPr>
            <a:r>
              <a:rPr lang="en-US" sz="900" dirty="0">
                <a:solidFill>
                  <a:srgbClr val="8FA895"/>
                </a:solidFill>
                <a:latin typeface="Calibri" pitchFamily="34" charset="0"/>
                <a:ea typeface="Calibri" pitchFamily="34" charset="-122"/>
                <a:cs typeface="Calibri" pitchFamily="34" charset="-120"/>
              </a:rPr>
              <a:t>VISTA  •  Proposal Proyek Flutter  •  EcoTrack</a:t>
            </a:r>
            <a:endParaRPr lang="en-US" sz="900" dirty="0"/>
          </a:p>
        </p:txBody>
      </p:sp>
      <p:sp>
        <p:nvSpPr>
          <p:cNvPr id="1048728" name="Text 18"/>
          <p:cNvSpPr txBox="1"/>
          <p:nvPr/>
        </p:nvSpPr>
        <p:spPr>
          <a:xfrm>
            <a:off x="10424160" y="6473952"/>
            <a:ext cx="1188720" cy="274320"/>
          </a:xfrm>
          <a:prstGeom prst="rect">
            <a:avLst/>
          </a:prstGeom>
          <a:noFill/>
        </p:spPr>
        <p:txBody>
          <a:bodyPr wrap="square" lIns="0" tIns="0" rIns="0" bIns="0" rtlCol="0" anchor="ctr"/>
          <a:lstStyle/>
          <a:p>
            <a:pPr marL="0" indent="0" algn="r">
              <a:buNone/>
            </a:pPr>
            <a:r>
              <a:rPr lang="en-US" sz="900" b="1" dirty="0">
                <a:solidFill>
                  <a:srgbClr val="F6D9B8"/>
                </a:solidFill>
                <a:latin typeface="Calibri" pitchFamily="34" charset="0"/>
                <a:ea typeface="Calibri" pitchFamily="34" charset="-122"/>
                <a:cs typeface="Calibri" pitchFamily="34" charset="-120"/>
              </a:rPr>
              <a:t>SDG 13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1048732" name="Shape 0"/>
          <p:cNvSpPr/>
          <p:nvPr/>
        </p:nvSpPr>
        <p:spPr>
          <a:xfrm>
            <a:off x="0" y="0"/>
            <a:ext cx="12188952" cy="6858000"/>
          </a:xfrm>
          <a:prstGeom prst="rect">
            <a:avLst/>
          </a:prstGeom>
          <a:solidFill>
            <a:srgbClr val="FFFFFF"/>
          </a:solidFill>
        </p:spPr>
        <p:txBody>
          <a:bodyPr/>
          <a:lstStyle/>
          <a:p>
            <a:endParaRPr/>
          </a:p>
        </p:txBody>
      </p:sp>
      <p:sp>
        <p:nvSpPr>
          <p:cNvPr id="1048733" name="Text 1"/>
          <p:cNvSpPr txBox="1"/>
          <p:nvPr/>
        </p:nvSpPr>
        <p:spPr>
          <a:xfrm>
            <a:off x="548640" y="320040"/>
            <a:ext cx="7315200" cy="365760"/>
          </a:xfrm>
          <a:prstGeom prst="rect">
            <a:avLst/>
          </a:prstGeom>
          <a:noFill/>
        </p:spPr>
        <p:txBody>
          <a:bodyPr wrap="square" lIns="0" tIns="0" rIns="0" bIns="0" rtlCol="0" anchor="ctr"/>
          <a:lstStyle/>
          <a:p>
            <a:pPr marL="0" indent="0">
              <a:buNone/>
            </a:pPr>
            <a:r>
              <a:rPr lang="en-US" sz="1200" b="1" kern="0" spc="200" dirty="0">
                <a:solidFill>
                  <a:srgbClr val="4C8C5C"/>
                </a:solidFill>
                <a:latin typeface="Calibri" pitchFamily="34" charset="0"/>
                <a:ea typeface="Calibri" pitchFamily="34" charset="-122"/>
                <a:cs typeface="Calibri" pitchFamily="34" charset="-120"/>
              </a:rPr>
              <a:t>06  —  FITUR UTAMA</a:t>
            </a:r>
            <a:endParaRPr lang="en-US" sz="1200" dirty="0"/>
          </a:p>
        </p:txBody>
      </p:sp>
      <p:sp>
        <p:nvSpPr>
          <p:cNvPr id="1048734" name="Text 2"/>
          <p:cNvSpPr txBox="1"/>
          <p:nvPr/>
        </p:nvSpPr>
        <p:spPr>
          <a:xfrm>
            <a:off x="548640" y="777240"/>
            <a:ext cx="8229600" cy="640080"/>
          </a:xfrm>
          <a:prstGeom prst="rect">
            <a:avLst/>
          </a:prstGeom>
          <a:noFill/>
        </p:spPr>
        <p:txBody>
          <a:bodyPr wrap="square" lIns="0" tIns="0" rIns="0" bIns="0" rtlCol="0" anchor="ctr"/>
          <a:lstStyle/>
          <a:p>
            <a:pPr marL="0" indent="0">
              <a:buNone/>
            </a:pPr>
            <a:r>
              <a:rPr lang="en-US" sz="2800" b="1" dirty="0">
                <a:solidFill>
                  <a:srgbClr val="16281D"/>
                </a:solidFill>
                <a:latin typeface="Bookman Old Style" pitchFamily="34" charset="0"/>
                <a:ea typeface="Bookman Old Style" pitchFamily="34" charset="-122"/>
                <a:cs typeface="Bookman Old Style" pitchFamily="34" charset="-120"/>
              </a:rPr>
              <a:t>Fitur Utama EcoTrack</a:t>
            </a:r>
            <a:endParaRPr lang="en-US" sz="2800" dirty="0"/>
          </a:p>
        </p:txBody>
      </p:sp>
      <p:sp>
        <p:nvSpPr>
          <p:cNvPr id="1048735" name="Shape 3"/>
          <p:cNvSpPr/>
          <p:nvPr/>
        </p:nvSpPr>
        <p:spPr>
          <a:xfrm>
            <a:off x="320040" y="1473073"/>
            <a:ext cx="2560320" cy="1965960"/>
          </a:xfrm>
          <a:prstGeom prst="roundRect">
            <a:avLst>
              <a:gd name="adj" fmla="val 3721"/>
            </a:avLst>
          </a:prstGeom>
          <a:solidFill>
            <a:srgbClr val="E4EEE2"/>
          </a:solidFill>
        </p:spPr>
      </p:sp>
      <p:sp>
        <p:nvSpPr>
          <p:cNvPr id="1048736" name="Shape 4"/>
          <p:cNvSpPr/>
          <p:nvPr/>
        </p:nvSpPr>
        <p:spPr>
          <a:xfrm>
            <a:off x="320040" y="1391666"/>
            <a:ext cx="594360" cy="594360"/>
          </a:xfrm>
          <a:prstGeom prst="ellipse">
            <a:avLst/>
          </a:prstGeom>
          <a:solidFill>
            <a:srgbClr val="4C8C5C"/>
          </a:solidFill>
        </p:spPr>
        <p:txBody>
          <a:bodyPr/>
          <a:lstStyle/>
          <a:p>
            <a:endParaRPr lang="en-US" dirty="0"/>
          </a:p>
        </p:txBody>
      </p:sp>
      <p:sp>
        <p:nvSpPr>
          <p:cNvPr id="1048739" name="Text 7"/>
          <p:cNvSpPr txBox="1"/>
          <p:nvPr/>
        </p:nvSpPr>
        <p:spPr>
          <a:xfrm>
            <a:off x="685800" y="2990088"/>
            <a:ext cx="2286000" cy="594360"/>
          </a:xfrm>
          <a:prstGeom prst="rect">
            <a:avLst/>
          </a:prstGeom>
          <a:noFill/>
        </p:spPr>
        <p:txBody>
          <a:bodyPr wrap="square" lIns="0" tIns="0" rIns="0" bIns="0" rtlCol="0" anchor="ctr"/>
          <a:lstStyle/>
          <a:p>
            <a:pPr marL="0" indent="0">
              <a:lnSpc>
                <a:spcPct val="115000"/>
              </a:lnSpc>
              <a:buNone/>
            </a:pPr>
            <a:r>
              <a:rPr lang="en-US" sz="950" dirty="0">
                <a:solidFill>
                  <a:srgbClr val="5B6B5E"/>
                </a:solidFill>
                <a:latin typeface="Calibri" pitchFamily="34" charset="0"/>
                <a:ea typeface="Calibri" pitchFamily="34" charset="-122"/>
                <a:cs typeface="Calibri" pitchFamily="34" charset="-120"/>
              </a:rPr>
              <a:t>Total emisi, ringkasan kategori &amp; perubahan mingguan</a:t>
            </a:r>
            <a:endParaRPr lang="en-US" sz="950" dirty="0"/>
          </a:p>
        </p:txBody>
      </p:sp>
      <p:sp>
        <p:nvSpPr>
          <p:cNvPr id="1048740" name="Shape 8"/>
          <p:cNvSpPr/>
          <p:nvPr/>
        </p:nvSpPr>
        <p:spPr>
          <a:xfrm>
            <a:off x="3337560" y="1691640"/>
            <a:ext cx="2560320" cy="1965960"/>
          </a:xfrm>
          <a:prstGeom prst="roundRect">
            <a:avLst>
              <a:gd name="adj" fmla="val 3721"/>
            </a:avLst>
          </a:prstGeom>
          <a:solidFill>
            <a:srgbClr val="E4EEE2"/>
          </a:solidFill>
        </p:spPr>
        <p:txBody>
          <a:bodyPr/>
          <a:lstStyle/>
          <a:p>
            <a:endParaRPr/>
          </a:p>
        </p:txBody>
      </p:sp>
      <p:sp>
        <p:nvSpPr>
          <p:cNvPr id="1048741" name="Shape 9"/>
          <p:cNvSpPr/>
          <p:nvPr/>
        </p:nvSpPr>
        <p:spPr>
          <a:xfrm>
            <a:off x="3520440" y="1874520"/>
            <a:ext cx="594360" cy="594360"/>
          </a:xfrm>
          <a:prstGeom prst="ellipse">
            <a:avLst/>
          </a:prstGeom>
          <a:solidFill>
            <a:srgbClr val="4C8C5C"/>
          </a:solidFill>
        </p:spPr>
        <p:txBody>
          <a:bodyPr/>
          <a:lstStyle/>
          <a:p>
            <a:endParaRPr/>
          </a:p>
        </p:txBody>
      </p:sp>
      <p:sp>
        <p:nvSpPr>
          <p:cNvPr id="1048744" name="Text 12"/>
          <p:cNvSpPr txBox="1"/>
          <p:nvPr/>
        </p:nvSpPr>
        <p:spPr>
          <a:xfrm>
            <a:off x="3474720" y="2990088"/>
            <a:ext cx="2286000" cy="594360"/>
          </a:xfrm>
          <a:prstGeom prst="rect">
            <a:avLst/>
          </a:prstGeom>
          <a:noFill/>
        </p:spPr>
        <p:txBody>
          <a:bodyPr wrap="square" lIns="0" tIns="0" rIns="0" bIns="0" rtlCol="0" anchor="ctr"/>
          <a:lstStyle/>
          <a:p>
            <a:pPr marL="0" indent="0">
              <a:lnSpc>
                <a:spcPct val="115000"/>
              </a:lnSpc>
              <a:buNone/>
            </a:pPr>
            <a:r>
              <a:rPr lang="en-US" sz="950" dirty="0">
                <a:solidFill>
                  <a:srgbClr val="5B6B5E"/>
                </a:solidFill>
                <a:latin typeface="Calibri" pitchFamily="34" charset="0"/>
                <a:ea typeface="Calibri" pitchFamily="34" charset="-122"/>
                <a:cs typeface="Calibri" pitchFamily="34" charset="-120"/>
              </a:rPr>
              <a:t>Input aktivitas transportasi, listrik, atau makanan</a:t>
            </a:r>
            <a:endParaRPr lang="en-US" sz="950" dirty="0"/>
          </a:p>
        </p:txBody>
      </p:sp>
      <p:sp>
        <p:nvSpPr>
          <p:cNvPr id="1048745" name="Shape 13"/>
          <p:cNvSpPr/>
          <p:nvPr/>
        </p:nvSpPr>
        <p:spPr>
          <a:xfrm>
            <a:off x="6126480" y="1691640"/>
            <a:ext cx="2560320" cy="1965960"/>
          </a:xfrm>
          <a:prstGeom prst="roundRect">
            <a:avLst>
              <a:gd name="adj" fmla="val 3721"/>
            </a:avLst>
          </a:prstGeom>
          <a:solidFill>
            <a:srgbClr val="E4EEE2"/>
          </a:solidFill>
        </p:spPr>
        <p:txBody>
          <a:bodyPr/>
          <a:lstStyle/>
          <a:p>
            <a:endParaRPr/>
          </a:p>
        </p:txBody>
      </p:sp>
      <p:sp>
        <p:nvSpPr>
          <p:cNvPr id="1048746" name="Shape 14"/>
          <p:cNvSpPr/>
          <p:nvPr/>
        </p:nvSpPr>
        <p:spPr>
          <a:xfrm>
            <a:off x="6309360" y="1874520"/>
            <a:ext cx="594360" cy="594360"/>
          </a:xfrm>
          <a:prstGeom prst="ellipse">
            <a:avLst/>
          </a:prstGeom>
          <a:solidFill>
            <a:srgbClr val="4C8C5C"/>
          </a:solidFill>
        </p:spPr>
        <p:txBody>
          <a:bodyPr/>
          <a:lstStyle/>
          <a:p>
            <a:endParaRPr/>
          </a:p>
        </p:txBody>
      </p:sp>
      <p:sp>
        <p:nvSpPr>
          <p:cNvPr id="1048749" name="Text 17"/>
          <p:cNvSpPr txBox="1"/>
          <p:nvPr/>
        </p:nvSpPr>
        <p:spPr>
          <a:xfrm>
            <a:off x="6263640" y="2990088"/>
            <a:ext cx="2286000" cy="594360"/>
          </a:xfrm>
          <a:prstGeom prst="rect">
            <a:avLst/>
          </a:prstGeom>
          <a:noFill/>
        </p:spPr>
        <p:txBody>
          <a:bodyPr wrap="square" lIns="0" tIns="0" rIns="0" bIns="0" rtlCol="0" anchor="ctr"/>
          <a:lstStyle/>
          <a:p>
            <a:pPr marL="0" indent="0">
              <a:lnSpc>
                <a:spcPct val="115000"/>
              </a:lnSpc>
              <a:buNone/>
            </a:pPr>
            <a:r>
              <a:rPr lang="en-US" sz="950" dirty="0">
                <a:solidFill>
                  <a:srgbClr val="5B6B5E"/>
                </a:solidFill>
                <a:latin typeface="Calibri" pitchFamily="34" charset="0"/>
                <a:ea typeface="Calibri" pitchFamily="34" charset="-122"/>
                <a:cs typeface="Calibri" pitchFamily="34" charset="-120"/>
              </a:rPr>
              <a:t>Menghitung estimasi emisi otomatis</a:t>
            </a:r>
            <a:endParaRPr lang="en-US" sz="950" dirty="0"/>
          </a:p>
        </p:txBody>
      </p:sp>
      <p:sp>
        <p:nvSpPr>
          <p:cNvPr id="1048750" name="Shape 18"/>
          <p:cNvSpPr/>
          <p:nvPr/>
        </p:nvSpPr>
        <p:spPr>
          <a:xfrm>
            <a:off x="8915400" y="1691640"/>
            <a:ext cx="2560320" cy="1965960"/>
          </a:xfrm>
          <a:prstGeom prst="roundRect">
            <a:avLst>
              <a:gd name="adj" fmla="val 3721"/>
            </a:avLst>
          </a:prstGeom>
          <a:solidFill>
            <a:srgbClr val="E4EEE2"/>
          </a:solidFill>
        </p:spPr>
        <p:txBody>
          <a:bodyPr/>
          <a:lstStyle/>
          <a:p>
            <a:endParaRPr/>
          </a:p>
        </p:txBody>
      </p:sp>
      <p:sp>
        <p:nvSpPr>
          <p:cNvPr id="1048751" name="Shape 19"/>
          <p:cNvSpPr/>
          <p:nvPr/>
        </p:nvSpPr>
        <p:spPr>
          <a:xfrm>
            <a:off x="9098280" y="1874520"/>
            <a:ext cx="594360" cy="594360"/>
          </a:xfrm>
          <a:prstGeom prst="ellipse">
            <a:avLst/>
          </a:prstGeom>
          <a:solidFill>
            <a:srgbClr val="4C8C5C"/>
          </a:solidFill>
        </p:spPr>
        <p:txBody>
          <a:bodyPr/>
          <a:lstStyle/>
          <a:p>
            <a:endParaRPr/>
          </a:p>
        </p:txBody>
      </p:sp>
      <p:sp>
        <p:nvSpPr>
          <p:cNvPr id="1048754" name="Text 22"/>
          <p:cNvSpPr txBox="1"/>
          <p:nvPr/>
        </p:nvSpPr>
        <p:spPr>
          <a:xfrm>
            <a:off x="9052560" y="2990088"/>
            <a:ext cx="2286000" cy="594360"/>
          </a:xfrm>
          <a:prstGeom prst="rect">
            <a:avLst/>
          </a:prstGeom>
          <a:noFill/>
        </p:spPr>
        <p:txBody>
          <a:bodyPr wrap="square" lIns="0" tIns="0" rIns="0" bIns="0" rtlCol="0" anchor="ctr"/>
          <a:lstStyle/>
          <a:p>
            <a:pPr marL="0" indent="0">
              <a:lnSpc>
                <a:spcPct val="115000"/>
              </a:lnSpc>
              <a:buNone/>
            </a:pPr>
            <a:r>
              <a:rPr lang="en-US" sz="950" dirty="0">
                <a:solidFill>
                  <a:srgbClr val="5B6B5E"/>
                </a:solidFill>
                <a:latin typeface="Calibri" pitchFamily="34" charset="0"/>
                <a:ea typeface="Calibri" pitchFamily="34" charset="-122"/>
                <a:cs typeface="Calibri" pitchFamily="34" charset="-120"/>
              </a:rPr>
              <a:t>Riwayat aktivitas dengan detail, edit &amp; delete</a:t>
            </a:r>
            <a:endParaRPr lang="en-US" sz="950" dirty="0"/>
          </a:p>
        </p:txBody>
      </p:sp>
      <p:sp>
        <p:nvSpPr>
          <p:cNvPr id="1048755" name="Shape 23"/>
          <p:cNvSpPr/>
          <p:nvPr/>
        </p:nvSpPr>
        <p:spPr>
          <a:xfrm>
            <a:off x="548640" y="3840480"/>
            <a:ext cx="2560320" cy="1965960"/>
          </a:xfrm>
          <a:prstGeom prst="roundRect">
            <a:avLst>
              <a:gd name="adj" fmla="val 3721"/>
            </a:avLst>
          </a:prstGeom>
          <a:solidFill>
            <a:srgbClr val="FBEEE0"/>
          </a:solidFill>
        </p:spPr>
        <p:txBody>
          <a:bodyPr/>
          <a:lstStyle/>
          <a:p>
            <a:endParaRPr/>
          </a:p>
        </p:txBody>
      </p:sp>
      <p:sp>
        <p:nvSpPr>
          <p:cNvPr id="1048756" name="Shape 24"/>
          <p:cNvSpPr/>
          <p:nvPr/>
        </p:nvSpPr>
        <p:spPr>
          <a:xfrm>
            <a:off x="731520" y="4023360"/>
            <a:ext cx="594360" cy="594360"/>
          </a:xfrm>
          <a:prstGeom prst="ellipse">
            <a:avLst/>
          </a:prstGeom>
          <a:solidFill>
            <a:srgbClr val="D97B2E"/>
          </a:solidFill>
        </p:spPr>
        <p:txBody>
          <a:bodyPr/>
          <a:lstStyle/>
          <a:p>
            <a:endParaRPr/>
          </a:p>
        </p:txBody>
      </p:sp>
      <p:sp>
        <p:nvSpPr>
          <p:cNvPr id="1048759" name="Text 27"/>
          <p:cNvSpPr txBox="1"/>
          <p:nvPr/>
        </p:nvSpPr>
        <p:spPr>
          <a:xfrm>
            <a:off x="685800" y="5138928"/>
            <a:ext cx="2286000" cy="594360"/>
          </a:xfrm>
          <a:prstGeom prst="rect">
            <a:avLst/>
          </a:prstGeom>
          <a:noFill/>
        </p:spPr>
        <p:txBody>
          <a:bodyPr wrap="square" lIns="0" tIns="0" rIns="0" bIns="0" rtlCol="0" anchor="ctr"/>
          <a:lstStyle/>
          <a:p>
            <a:pPr marL="0" indent="0">
              <a:lnSpc>
                <a:spcPct val="115000"/>
              </a:lnSpc>
              <a:buNone/>
            </a:pPr>
            <a:r>
              <a:rPr lang="en-US" sz="950" dirty="0">
                <a:solidFill>
                  <a:srgbClr val="5B6B5E"/>
                </a:solidFill>
                <a:latin typeface="Calibri" pitchFamily="34" charset="0"/>
                <a:ea typeface="Calibri" pitchFamily="34" charset="-122"/>
                <a:cs typeface="Calibri" pitchFamily="34" charset="-120"/>
              </a:rPr>
              <a:t>Grafik perkembangan emisi &amp; breakdown kategori</a:t>
            </a:r>
            <a:endParaRPr lang="en-US" sz="950" dirty="0"/>
          </a:p>
        </p:txBody>
      </p:sp>
      <p:sp>
        <p:nvSpPr>
          <p:cNvPr id="1048760" name="Shape 28"/>
          <p:cNvSpPr/>
          <p:nvPr/>
        </p:nvSpPr>
        <p:spPr>
          <a:xfrm>
            <a:off x="3337560" y="3840480"/>
            <a:ext cx="2560320" cy="1965960"/>
          </a:xfrm>
          <a:prstGeom prst="roundRect">
            <a:avLst>
              <a:gd name="adj" fmla="val 3721"/>
            </a:avLst>
          </a:prstGeom>
          <a:solidFill>
            <a:srgbClr val="FBEEE0"/>
          </a:solidFill>
        </p:spPr>
        <p:txBody>
          <a:bodyPr/>
          <a:lstStyle/>
          <a:p>
            <a:endParaRPr/>
          </a:p>
        </p:txBody>
      </p:sp>
      <p:sp>
        <p:nvSpPr>
          <p:cNvPr id="1048761" name="Shape 29"/>
          <p:cNvSpPr/>
          <p:nvPr/>
        </p:nvSpPr>
        <p:spPr>
          <a:xfrm>
            <a:off x="3520440" y="4023360"/>
            <a:ext cx="594360" cy="594360"/>
          </a:xfrm>
          <a:prstGeom prst="ellipse">
            <a:avLst/>
          </a:prstGeom>
          <a:solidFill>
            <a:srgbClr val="D97B2E"/>
          </a:solidFill>
        </p:spPr>
        <p:txBody>
          <a:bodyPr/>
          <a:lstStyle/>
          <a:p>
            <a:endParaRPr/>
          </a:p>
        </p:txBody>
      </p:sp>
      <p:sp>
        <p:nvSpPr>
          <p:cNvPr id="1048764" name="Text 32"/>
          <p:cNvSpPr txBox="1"/>
          <p:nvPr/>
        </p:nvSpPr>
        <p:spPr>
          <a:xfrm>
            <a:off x="3474720" y="5138928"/>
            <a:ext cx="2286000" cy="594360"/>
          </a:xfrm>
          <a:prstGeom prst="rect">
            <a:avLst/>
          </a:prstGeom>
          <a:noFill/>
        </p:spPr>
        <p:txBody>
          <a:bodyPr wrap="square" lIns="0" tIns="0" rIns="0" bIns="0" rtlCol="0" anchor="ctr"/>
          <a:lstStyle/>
          <a:p>
            <a:pPr marL="0" indent="0">
              <a:lnSpc>
                <a:spcPct val="115000"/>
              </a:lnSpc>
              <a:buNone/>
            </a:pPr>
            <a:r>
              <a:rPr lang="en-US" sz="950" dirty="0">
                <a:solidFill>
                  <a:srgbClr val="5B6B5E"/>
                </a:solidFill>
                <a:latin typeface="Calibri" pitchFamily="34" charset="0"/>
                <a:ea typeface="Calibri" pitchFamily="34" charset="-122"/>
                <a:cs typeface="Calibri" pitchFamily="34" charset="-120"/>
              </a:rPr>
              <a:t>Tips ramah lingkungan sesuai kategori aktivitas</a:t>
            </a:r>
            <a:endParaRPr lang="en-US" sz="950" dirty="0"/>
          </a:p>
        </p:txBody>
      </p:sp>
      <p:sp>
        <p:nvSpPr>
          <p:cNvPr id="1048765" name="Shape 33"/>
          <p:cNvSpPr/>
          <p:nvPr/>
        </p:nvSpPr>
        <p:spPr>
          <a:xfrm>
            <a:off x="6126480" y="3840480"/>
            <a:ext cx="2560320" cy="1965960"/>
          </a:xfrm>
          <a:prstGeom prst="roundRect">
            <a:avLst>
              <a:gd name="adj" fmla="val 3721"/>
            </a:avLst>
          </a:prstGeom>
          <a:solidFill>
            <a:srgbClr val="FBEEE0"/>
          </a:solidFill>
        </p:spPr>
        <p:txBody>
          <a:bodyPr/>
          <a:lstStyle/>
          <a:p>
            <a:endParaRPr/>
          </a:p>
        </p:txBody>
      </p:sp>
      <p:sp>
        <p:nvSpPr>
          <p:cNvPr id="1048766" name="Shape 34"/>
          <p:cNvSpPr/>
          <p:nvPr/>
        </p:nvSpPr>
        <p:spPr>
          <a:xfrm>
            <a:off x="6309360" y="4023360"/>
            <a:ext cx="594360" cy="594360"/>
          </a:xfrm>
          <a:prstGeom prst="ellipse">
            <a:avLst/>
          </a:prstGeom>
          <a:solidFill>
            <a:srgbClr val="D97B2E"/>
          </a:solidFill>
        </p:spPr>
        <p:txBody>
          <a:bodyPr/>
          <a:lstStyle/>
          <a:p>
            <a:endParaRPr/>
          </a:p>
        </p:txBody>
      </p:sp>
      <p:sp>
        <p:nvSpPr>
          <p:cNvPr id="1048769" name="Text 37"/>
          <p:cNvSpPr txBox="1"/>
          <p:nvPr/>
        </p:nvSpPr>
        <p:spPr>
          <a:xfrm>
            <a:off x="6263640" y="5138928"/>
            <a:ext cx="2286000" cy="594360"/>
          </a:xfrm>
          <a:prstGeom prst="rect">
            <a:avLst/>
          </a:prstGeom>
          <a:noFill/>
        </p:spPr>
        <p:txBody>
          <a:bodyPr wrap="square" lIns="0" tIns="0" rIns="0" bIns="0" rtlCol="0" anchor="ctr"/>
          <a:lstStyle/>
          <a:p>
            <a:pPr marL="0" indent="0">
              <a:lnSpc>
                <a:spcPct val="115000"/>
              </a:lnSpc>
              <a:buNone/>
            </a:pPr>
            <a:r>
              <a:rPr lang="en-US" sz="950" dirty="0">
                <a:solidFill>
                  <a:srgbClr val="5B6B5E"/>
                </a:solidFill>
                <a:latin typeface="Calibri" pitchFamily="34" charset="0"/>
                <a:ea typeface="Calibri" pitchFamily="34" charset="-122"/>
                <a:cs typeface="Calibri" pitchFamily="34" charset="-120"/>
              </a:rPr>
              <a:t>Tantangan harian seputar climate action</a:t>
            </a:r>
            <a:endParaRPr lang="en-US" sz="950" dirty="0"/>
          </a:p>
        </p:txBody>
      </p:sp>
      <p:sp>
        <p:nvSpPr>
          <p:cNvPr id="1048770" name="Shape 38"/>
          <p:cNvSpPr/>
          <p:nvPr/>
        </p:nvSpPr>
        <p:spPr>
          <a:xfrm>
            <a:off x="8915400" y="3840480"/>
            <a:ext cx="2560320" cy="1965960"/>
          </a:xfrm>
          <a:prstGeom prst="roundRect">
            <a:avLst>
              <a:gd name="adj" fmla="val 3721"/>
            </a:avLst>
          </a:prstGeom>
          <a:solidFill>
            <a:srgbClr val="FBEEE0"/>
          </a:solidFill>
        </p:spPr>
        <p:txBody>
          <a:bodyPr/>
          <a:lstStyle/>
          <a:p>
            <a:endParaRPr/>
          </a:p>
        </p:txBody>
      </p:sp>
      <p:sp>
        <p:nvSpPr>
          <p:cNvPr id="1048771" name="Shape 39"/>
          <p:cNvSpPr/>
          <p:nvPr/>
        </p:nvSpPr>
        <p:spPr>
          <a:xfrm>
            <a:off x="9098280" y="4023360"/>
            <a:ext cx="594360" cy="594360"/>
          </a:xfrm>
          <a:prstGeom prst="ellipse">
            <a:avLst/>
          </a:prstGeom>
          <a:solidFill>
            <a:srgbClr val="D97B2E"/>
          </a:solidFill>
        </p:spPr>
        <p:txBody>
          <a:bodyPr/>
          <a:lstStyle/>
          <a:p>
            <a:endParaRPr/>
          </a:p>
        </p:txBody>
      </p:sp>
      <p:sp>
        <p:nvSpPr>
          <p:cNvPr id="1048774" name="Text 42"/>
          <p:cNvSpPr txBox="1"/>
          <p:nvPr/>
        </p:nvSpPr>
        <p:spPr>
          <a:xfrm>
            <a:off x="9052560" y="5138928"/>
            <a:ext cx="2286000" cy="594360"/>
          </a:xfrm>
          <a:prstGeom prst="rect">
            <a:avLst/>
          </a:prstGeom>
          <a:noFill/>
        </p:spPr>
        <p:txBody>
          <a:bodyPr wrap="square" lIns="0" tIns="0" rIns="0" bIns="0" rtlCol="0" anchor="ctr"/>
          <a:lstStyle/>
          <a:p>
            <a:pPr marL="0" indent="0">
              <a:lnSpc>
                <a:spcPct val="115000"/>
              </a:lnSpc>
              <a:buNone/>
            </a:pPr>
            <a:r>
              <a:rPr lang="en-US" sz="950" dirty="0">
                <a:solidFill>
                  <a:srgbClr val="5B6B5E"/>
                </a:solidFill>
                <a:latin typeface="Calibri" pitchFamily="34" charset="0"/>
                <a:ea typeface="Calibri" pitchFamily="34" charset="-122"/>
                <a:cs typeface="Calibri" pitchFamily="34" charset="-120"/>
              </a:rPr>
              <a:t>Poin &amp; pencapaian sebagai bentuk gamifikasi</a:t>
            </a:r>
            <a:endParaRPr lang="en-US" sz="950" dirty="0"/>
          </a:p>
        </p:txBody>
      </p:sp>
      <p:sp>
        <p:nvSpPr>
          <p:cNvPr id="1048775" name="Text 43"/>
          <p:cNvSpPr txBox="1"/>
          <p:nvPr/>
        </p:nvSpPr>
        <p:spPr>
          <a:xfrm>
            <a:off x="548640" y="6473952"/>
            <a:ext cx="7315200" cy="274320"/>
          </a:xfrm>
          <a:prstGeom prst="rect">
            <a:avLst/>
          </a:prstGeom>
          <a:noFill/>
        </p:spPr>
        <p:txBody>
          <a:bodyPr wrap="square" lIns="0" tIns="0" rIns="0" bIns="0" rtlCol="0" anchor="ctr"/>
          <a:lstStyle/>
          <a:p>
            <a:pPr marL="0" indent="0">
              <a:buNone/>
            </a:pPr>
            <a:r>
              <a:rPr lang="en-US" sz="900" dirty="0">
                <a:solidFill>
                  <a:srgbClr val="5B6B5E"/>
                </a:solidFill>
                <a:latin typeface="Calibri" pitchFamily="34" charset="0"/>
                <a:ea typeface="Calibri" pitchFamily="34" charset="-122"/>
                <a:cs typeface="Calibri" pitchFamily="34" charset="-120"/>
              </a:rPr>
              <a:t>VISTA  •  Proposal Proyek Flutter  •  EcoTrack</a:t>
            </a:r>
            <a:endParaRPr lang="en-US" sz="900" dirty="0"/>
          </a:p>
        </p:txBody>
      </p:sp>
      <p:sp>
        <p:nvSpPr>
          <p:cNvPr id="1048776" name="Text 44"/>
          <p:cNvSpPr txBox="1"/>
          <p:nvPr/>
        </p:nvSpPr>
        <p:spPr>
          <a:xfrm>
            <a:off x="10424160" y="6473952"/>
            <a:ext cx="1188720" cy="274320"/>
          </a:xfrm>
          <a:prstGeom prst="rect">
            <a:avLst/>
          </a:prstGeom>
          <a:noFill/>
        </p:spPr>
        <p:txBody>
          <a:bodyPr wrap="square" lIns="0" tIns="0" rIns="0" bIns="0" rtlCol="0" anchor="ctr"/>
          <a:lstStyle/>
          <a:p>
            <a:pPr marL="0" indent="0" algn="r">
              <a:buNone/>
            </a:pPr>
            <a:r>
              <a:rPr lang="en-US" sz="900" b="1" dirty="0">
                <a:solidFill>
                  <a:srgbClr val="4C8C5C"/>
                </a:solidFill>
                <a:latin typeface="Calibri" pitchFamily="34" charset="0"/>
                <a:ea typeface="Calibri" pitchFamily="34" charset="-122"/>
                <a:cs typeface="Calibri" pitchFamily="34" charset="-120"/>
              </a:rPr>
              <a:t>SDG 13</a:t>
            </a:r>
            <a:endParaRPr lang="en-US" sz="900" dirty="0"/>
          </a:p>
        </p:txBody>
      </p:sp>
      <p:sp>
        <p:nvSpPr>
          <p:cNvPr id="9" name="TextBox 8">
            <a:extLst>
              <a:ext uri="{FF2B5EF4-FFF2-40B4-BE49-F238E27FC236}">
                <a16:creationId xmlns:a16="http://schemas.microsoft.com/office/drawing/2014/main" id="{FBBCFDDD-855B-405A-7EAA-3D20AAE0E622}"/>
              </a:ext>
            </a:extLst>
          </p:cNvPr>
          <p:cNvSpPr txBox="1"/>
          <p:nvPr/>
        </p:nvSpPr>
        <p:spPr>
          <a:xfrm>
            <a:off x="1366057" y="1720631"/>
            <a:ext cx="1062646" cy="307777"/>
          </a:xfrm>
          <a:prstGeom prst="rect">
            <a:avLst/>
          </a:prstGeom>
          <a:noFill/>
        </p:spPr>
        <p:txBody>
          <a:bodyPr wrap="square" rtlCol="0">
            <a:spAutoFit/>
          </a:bodyPr>
          <a:lstStyle/>
          <a:p>
            <a:r>
              <a:rPr lang="id-ID" sz="1400" dirty="0"/>
              <a:t>Login</a:t>
            </a:r>
            <a:endParaRPr lang="en-US" sz="1400" dirty="0"/>
          </a:p>
        </p:txBody>
      </p:sp>
      <p:pic>
        <p:nvPicPr>
          <p:cNvPr id="11" name="Picture 10">
            <a:extLst>
              <a:ext uri="{FF2B5EF4-FFF2-40B4-BE49-F238E27FC236}">
                <a16:creationId xmlns:a16="http://schemas.microsoft.com/office/drawing/2014/main" id="{4998BCE3-B098-D0A3-1D28-36305BA0859D}"/>
              </a:ext>
            </a:extLst>
          </p:cNvPr>
          <p:cNvPicPr>
            <a:picLocks noChangeAspect="1"/>
          </p:cNvPicPr>
          <p:nvPr/>
        </p:nvPicPr>
        <p:blipFill>
          <a:blip r:embed="rId3"/>
          <a:stretch>
            <a:fillRect/>
          </a:stretch>
        </p:blipFill>
        <p:spPr>
          <a:xfrm>
            <a:off x="-5080" y="12329"/>
            <a:ext cx="12197080" cy="681644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3"/>
        </a:solidFill>
        <a:effectLst/>
      </p:bgPr>
    </p:bg>
    <p:spTree>
      <p:nvGrpSpPr>
        <p:cNvPr id="1" name=""/>
        <p:cNvGrpSpPr/>
        <p:nvPr/>
      </p:nvGrpSpPr>
      <p:grpSpPr/>
      <p:sp>
        <p:nvSpPr>
          <p:cNvPr id="2" name="Rectangle 1"/>
          <p:cNvSpPr/>
          <p:nvPr/>
        </p:nvSpPr>
        <p:spPr>
          <a:xfrm>
            <a:off x="457200" y="274320"/>
            <a:ext cx="8229600" cy="1097280"/>
          </a:xfrm>
          <a:prstGeom prst="rect">
            <a:avLst/>
          </a:prstGeom>
          <a:solidFill>
            <a:srgbClr val="1F5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772400" cy="822960"/>
          </a:xfrm>
          <a:prstGeom prst="rect">
            <a:avLst/>
          </a:prstGeom>
          <a:noFill/>
        </p:spPr>
        <p:txBody>
          <a:bodyPr wrap="square">
            <a:spAutoFit/>
          </a:bodyPr>
          <a:lstStyle/>
          <a:p>
            <a:pPr>
              <a:defRPr sz="2800" b="1">
                <a:solidFill>
                  <a:srgbClr val="FFFFFF"/>
                </a:solidFill>
              </a:defRPr>
            </a:pPr>
            <a:r>
              <a:t>Beranda / Dashboard</a:t>
            </a:r>
          </a:p>
        </p:txBody>
      </p:sp>
      <p:sp>
        <p:nvSpPr>
          <p:cNvPr id="4" name="Rectangle 3"/>
          <p:cNvSpPr/>
          <p:nvPr/>
        </p:nvSpPr>
        <p:spPr>
          <a:xfrm>
            <a:off x="640080" y="1280160"/>
            <a:ext cx="1371600" cy="54864"/>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8229600" cy="1371600"/>
          </a:xfrm>
          <a:prstGeom prst="rect">
            <a:avLst/>
          </a:prstGeom>
          <a:noFill/>
        </p:spPr>
        <p:txBody>
          <a:bodyPr wrap="square">
            <a:spAutoFit/>
          </a:bodyPr>
          <a:lstStyle/>
          <a:p>
            <a:pPr>
              <a:defRPr sz="1600" i="1">
                <a:solidFill>
                  <a:srgbClr val="5F6F63"/>
                </a:solidFill>
              </a:defRPr>
            </a:pPr>
            <a:r>
              <a:t>Ringkasan total emisi, breakdown kategori, dan tantangan harian pengguna. Termasuk EcoBar progres dan streak harian.</a:t>
            </a:r>
          </a:p>
        </p:txBody>
      </p:sp>
      <p:sp>
        <p:nvSpPr>
          <p:cNvPr id="6" name="Rounded Rectangle 5"/>
          <p:cNvSpPr/>
          <p:nvPr/>
        </p:nvSpPr>
        <p:spPr>
          <a:xfrm>
            <a:off x="640080" y="3108960"/>
            <a:ext cx="2377440" cy="1645920"/>
          </a:xfrm>
          <a:prstGeom prst="roundRect">
            <a:avLst/>
          </a:prstGeom>
          <a:solidFill>
            <a:srgbClr val="FFFFFF"/>
          </a:solidFill>
          <a:ln w="12700">
            <a:solidFill>
              <a:srgbClr val="E5EA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200400"/>
            <a:ext cx="2194560" cy="457200"/>
          </a:xfrm>
          <a:prstGeom prst="rect">
            <a:avLst/>
          </a:prstGeom>
          <a:noFill/>
        </p:spPr>
        <p:txBody>
          <a:bodyPr wrap="square">
            <a:spAutoFit/>
          </a:bodyPr>
          <a:lstStyle/>
          <a:p>
            <a:pPr>
              <a:defRPr sz="1000">
                <a:solidFill>
                  <a:srgbClr val="5F6F63"/>
                </a:solidFill>
              </a:defRPr>
            </a:pPr>
            <a:r>
              <a:t>📱 Home screen with total emissions, catego...</a:t>
            </a:r>
          </a:p>
        </p:txBody>
      </p:sp>
      <p:sp>
        <p:nvSpPr>
          <p:cNvPr id="8" name="TextBox 7"/>
          <p:cNvSpPr txBox="1"/>
          <p:nvPr/>
        </p:nvSpPr>
        <p:spPr>
          <a:xfrm>
            <a:off x="8412480" y="9326880"/>
            <a:ext cx="457200" cy="365760"/>
          </a:xfrm>
          <a:prstGeom prst="rect">
            <a:avLst/>
          </a:prstGeom>
          <a:noFill/>
        </p:spPr>
        <p:txBody>
          <a:bodyPr wrap="none">
            <a:spAutoFit/>
          </a:bodyPr>
          <a:lstStyle/>
          <a:p>
            <a:pPr algn="r">
              <a:defRPr sz="1000">
                <a:solidFill>
                  <a:srgbClr val="5F6F63"/>
                </a:solidFill>
              </a:defRPr>
            </a:pPr>
            <a:r>
              <a:t>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3"/>
        </a:solidFill>
        <a:effectLst/>
      </p:bgPr>
    </p:bg>
    <p:spTree>
      <p:nvGrpSpPr>
        <p:cNvPr id="1" name=""/>
        <p:cNvGrpSpPr/>
        <p:nvPr/>
      </p:nvGrpSpPr>
      <p:grpSpPr/>
      <p:sp>
        <p:nvSpPr>
          <p:cNvPr id="2" name="Rectangle 1"/>
          <p:cNvSpPr/>
          <p:nvPr/>
        </p:nvSpPr>
        <p:spPr>
          <a:xfrm>
            <a:off x="457200" y="274320"/>
            <a:ext cx="8229600" cy="1097280"/>
          </a:xfrm>
          <a:prstGeom prst="rect">
            <a:avLst/>
          </a:prstGeom>
          <a:solidFill>
            <a:srgbClr val="1F5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772400" cy="822960"/>
          </a:xfrm>
          <a:prstGeom prst="rect">
            <a:avLst/>
          </a:prstGeom>
          <a:noFill/>
        </p:spPr>
        <p:txBody>
          <a:bodyPr wrap="square">
            <a:spAutoFit/>
          </a:bodyPr>
          <a:lstStyle/>
          <a:p>
            <a:pPr>
              <a:defRPr sz="2800" b="1">
                <a:solidFill>
                  <a:srgbClr val="FFFFFF"/>
                </a:solidFill>
              </a:defRPr>
            </a:pPr>
            <a:r>
              <a:t>Beranda / Dashboard</a:t>
            </a:r>
          </a:p>
        </p:txBody>
      </p:sp>
      <p:sp>
        <p:nvSpPr>
          <p:cNvPr id="4" name="Rectangle 3"/>
          <p:cNvSpPr/>
          <p:nvPr/>
        </p:nvSpPr>
        <p:spPr>
          <a:xfrm>
            <a:off x="640080" y="1280160"/>
            <a:ext cx="1371600" cy="54864"/>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8229600" cy="1371600"/>
          </a:xfrm>
          <a:prstGeom prst="rect">
            <a:avLst/>
          </a:prstGeom>
          <a:noFill/>
        </p:spPr>
        <p:txBody>
          <a:bodyPr wrap="square">
            <a:spAutoFit/>
          </a:bodyPr>
          <a:lstStyle/>
          <a:p>
            <a:pPr>
              <a:defRPr sz="1600" i="1">
                <a:solidFill>
                  <a:srgbClr val="5F6F63"/>
                </a:solidFill>
              </a:defRPr>
            </a:pPr>
            <a:r>
              <a:t>Ringkasan total emisi, breakdown kategori, dan tantangan harian pengguna. Termasuk EcoBar progres dan streak harian.</a:t>
            </a:r>
          </a:p>
        </p:txBody>
      </p:sp>
      <p:sp>
        <p:nvSpPr>
          <p:cNvPr id="6" name="Rounded Rectangle 5"/>
          <p:cNvSpPr/>
          <p:nvPr/>
        </p:nvSpPr>
        <p:spPr>
          <a:xfrm>
            <a:off x="640080" y="3108960"/>
            <a:ext cx="2377440" cy="1645920"/>
          </a:xfrm>
          <a:prstGeom prst="roundRect">
            <a:avLst/>
          </a:prstGeom>
          <a:solidFill>
            <a:srgbClr val="FFFFFF"/>
          </a:solidFill>
          <a:ln w="12700">
            <a:solidFill>
              <a:srgbClr val="E5EA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200400"/>
            <a:ext cx="2194560" cy="457200"/>
          </a:xfrm>
          <a:prstGeom prst="rect">
            <a:avLst/>
          </a:prstGeom>
          <a:noFill/>
        </p:spPr>
        <p:txBody>
          <a:bodyPr wrap="square">
            <a:spAutoFit/>
          </a:bodyPr>
          <a:lstStyle/>
          <a:p>
            <a:pPr>
              <a:defRPr sz="1000">
                <a:solidFill>
                  <a:srgbClr val="5F6F63"/>
                </a:solidFill>
              </a:defRPr>
            </a:pPr>
            <a:r>
              <a:t>📱 Home screen with total emissions, catego...</a:t>
            </a:r>
          </a:p>
        </p:txBody>
      </p:sp>
      <p:sp>
        <p:nvSpPr>
          <p:cNvPr id="8" name="TextBox 7"/>
          <p:cNvSpPr txBox="1"/>
          <p:nvPr/>
        </p:nvSpPr>
        <p:spPr>
          <a:xfrm>
            <a:off x="8412480" y="9326880"/>
            <a:ext cx="457200" cy="365760"/>
          </a:xfrm>
          <a:prstGeom prst="rect">
            <a:avLst/>
          </a:prstGeom>
          <a:noFill/>
        </p:spPr>
        <p:txBody>
          <a:bodyPr wrap="none">
            <a:spAutoFit/>
          </a:bodyPr>
          <a:lstStyle/>
          <a:p>
            <a:pPr algn="r">
              <a:defRPr sz="1000">
                <a:solidFill>
                  <a:srgbClr val="5F6F63"/>
                </a:solidFil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3"/>
        </a:solidFill>
        <a:effectLst/>
      </p:bgPr>
    </p:bg>
    <p:spTree>
      <p:nvGrpSpPr>
        <p:cNvPr id="1" name=""/>
        <p:cNvGrpSpPr/>
        <p:nvPr/>
      </p:nvGrpSpPr>
      <p:grpSpPr/>
      <p:sp>
        <p:nvSpPr>
          <p:cNvPr id="2" name="Rectangle 1"/>
          <p:cNvSpPr/>
          <p:nvPr/>
        </p:nvSpPr>
        <p:spPr>
          <a:xfrm>
            <a:off x="457200" y="274320"/>
            <a:ext cx="8229600" cy="1097280"/>
          </a:xfrm>
          <a:prstGeom prst="rect">
            <a:avLst/>
          </a:prstGeom>
          <a:solidFill>
            <a:srgbClr val="1F5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772400" cy="822960"/>
          </a:xfrm>
          <a:prstGeom prst="rect">
            <a:avLst/>
          </a:prstGeom>
          <a:noFill/>
        </p:spPr>
        <p:txBody>
          <a:bodyPr wrap="square">
            <a:spAutoFit/>
          </a:bodyPr>
          <a:lstStyle/>
          <a:p>
            <a:pPr>
              <a:defRPr sz="2800" b="1">
                <a:solidFill>
                  <a:srgbClr val="FFFFFF"/>
                </a:solidFill>
              </a:defRPr>
            </a:pPr>
            <a:r>
              <a:t>Catat Aktivitas</a:t>
            </a:r>
          </a:p>
        </p:txBody>
      </p:sp>
      <p:sp>
        <p:nvSpPr>
          <p:cNvPr id="4" name="Rectangle 3"/>
          <p:cNvSpPr/>
          <p:nvPr/>
        </p:nvSpPr>
        <p:spPr>
          <a:xfrm>
            <a:off x="640080" y="1280160"/>
            <a:ext cx="1371600" cy="54864"/>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8229600" cy="1371600"/>
          </a:xfrm>
          <a:prstGeom prst="rect">
            <a:avLst/>
          </a:prstGeom>
          <a:noFill/>
        </p:spPr>
        <p:txBody>
          <a:bodyPr wrap="square">
            <a:spAutoFit/>
          </a:bodyPr>
          <a:lstStyle/>
          <a:p>
            <a:pPr>
              <a:defRPr sz="1600" i="1">
                <a:solidFill>
                  <a:srgbClr val="5F6F63"/>
                </a:solidFill>
              </a:defRPr>
            </a:pPr>
            <a:r>
              <a:t>Form untuk mencatat aktivitas harian: transportasi, listrik, dan makanan dengan pilihan kategori yang intuitif.</a:t>
            </a:r>
          </a:p>
        </p:txBody>
      </p:sp>
      <p:sp>
        <p:nvSpPr>
          <p:cNvPr id="6" name="Rounded Rectangle 5"/>
          <p:cNvSpPr/>
          <p:nvPr/>
        </p:nvSpPr>
        <p:spPr>
          <a:xfrm>
            <a:off x="640080" y="3108960"/>
            <a:ext cx="2377440" cy="1645920"/>
          </a:xfrm>
          <a:prstGeom prst="roundRect">
            <a:avLst/>
          </a:prstGeom>
          <a:solidFill>
            <a:srgbClr val="FFFFFF"/>
          </a:solidFill>
          <a:ln w="12700">
            <a:solidFill>
              <a:srgbClr val="E5EA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200400"/>
            <a:ext cx="2194560" cy="457200"/>
          </a:xfrm>
          <a:prstGeom prst="rect">
            <a:avLst/>
          </a:prstGeom>
          <a:noFill/>
        </p:spPr>
        <p:txBody>
          <a:bodyPr wrap="square">
            <a:spAutoFit/>
          </a:bodyPr>
          <a:lstStyle/>
          <a:p>
            <a:pPr>
              <a:defRPr sz="1000">
                <a:solidFill>
                  <a:srgbClr val="5F6F63"/>
                </a:solidFill>
              </a:defRPr>
            </a:pPr>
            <a:r>
              <a:t>📱 Activity logging form with transport, el...</a:t>
            </a:r>
          </a:p>
        </p:txBody>
      </p:sp>
      <p:sp>
        <p:nvSpPr>
          <p:cNvPr id="8" name="TextBox 7"/>
          <p:cNvSpPr txBox="1"/>
          <p:nvPr/>
        </p:nvSpPr>
        <p:spPr>
          <a:xfrm>
            <a:off x="8412480" y="9326880"/>
            <a:ext cx="457200" cy="365760"/>
          </a:xfrm>
          <a:prstGeom prst="rect">
            <a:avLst/>
          </a:prstGeom>
          <a:noFill/>
        </p:spPr>
        <p:txBody>
          <a:bodyPr wrap="none">
            <a:spAutoFit/>
          </a:bodyPr>
          <a:lstStyle/>
          <a:p>
            <a:pPr algn="r">
              <a:defRPr sz="1000">
                <a:solidFill>
                  <a:srgbClr val="5F6F63"/>
                </a:solidFill>
              </a:defRPr>
            </a:pPr>
            <a:r>
              <a:t>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3"/>
        </a:solidFill>
        <a:effectLst/>
      </p:bgPr>
    </p:bg>
    <p:spTree>
      <p:nvGrpSpPr>
        <p:cNvPr id="1" name=""/>
        <p:cNvGrpSpPr/>
        <p:nvPr/>
      </p:nvGrpSpPr>
      <p:grpSpPr/>
      <p:sp>
        <p:nvSpPr>
          <p:cNvPr id="2" name="Rectangle 1"/>
          <p:cNvSpPr/>
          <p:nvPr/>
        </p:nvSpPr>
        <p:spPr>
          <a:xfrm>
            <a:off x="457200" y="274320"/>
            <a:ext cx="8229600" cy="1097280"/>
          </a:xfrm>
          <a:prstGeom prst="rect">
            <a:avLst/>
          </a:prstGeom>
          <a:solidFill>
            <a:srgbClr val="1F5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772400" cy="822960"/>
          </a:xfrm>
          <a:prstGeom prst="rect">
            <a:avLst/>
          </a:prstGeom>
          <a:noFill/>
        </p:spPr>
        <p:txBody>
          <a:bodyPr wrap="square">
            <a:spAutoFit/>
          </a:bodyPr>
          <a:lstStyle/>
          <a:p>
            <a:pPr>
              <a:defRPr sz="2800" b="1">
                <a:solidFill>
                  <a:srgbClr val="FFFFFF"/>
                </a:solidFill>
              </a:defRPr>
            </a:pPr>
            <a:r>
              <a:t>Catat Aktivitas</a:t>
            </a:r>
          </a:p>
        </p:txBody>
      </p:sp>
      <p:sp>
        <p:nvSpPr>
          <p:cNvPr id="4" name="Rectangle 3"/>
          <p:cNvSpPr/>
          <p:nvPr/>
        </p:nvSpPr>
        <p:spPr>
          <a:xfrm>
            <a:off x="640080" y="1280160"/>
            <a:ext cx="1371600" cy="54864"/>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8229600" cy="1371600"/>
          </a:xfrm>
          <a:prstGeom prst="rect">
            <a:avLst/>
          </a:prstGeom>
          <a:noFill/>
        </p:spPr>
        <p:txBody>
          <a:bodyPr wrap="square">
            <a:spAutoFit/>
          </a:bodyPr>
          <a:lstStyle/>
          <a:p>
            <a:pPr>
              <a:defRPr sz="1600" i="1">
                <a:solidFill>
                  <a:srgbClr val="5F6F63"/>
                </a:solidFill>
              </a:defRPr>
            </a:pPr>
            <a:r>
              <a:t>Form untuk mencatat aktivitas harian: transportasi, listrik, dan makanan dengan pilihan kategori yang intuitif.</a:t>
            </a:r>
          </a:p>
        </p:txBody>
      </p:sp>
      <p:sp>
        <p:nvSpPr>
          <p:cNvPr id="6" name="Rounded Rectangle 5"/>
          <p:cNvSpPr/>
          <p:nvPr/>
        </p:nvSpPr>
        <p:spPr>
          <a:xfrm>
            <a:off x="640080" y="3108960"/>
            <a:ext cx="2377440" cy="1645920"/>
          </a:xfrm>
          <a:prstGeom prst="roundRect">
            <a:avLst/>
          </a:prstGeom>
          <a:solidFill>
            <a:srgbClr val="FFFFFF"/>
          </a:solidFill>
          <a:ln w="12700">
            <a:solidFill>
              <a:srgbClr val="E5EA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200400"/>
            <a:ext cx="2194560" cy="457200"/>
          </a:xfrm>
          <a:prstGeom prst="rect">
            <a:avLst/>
          </a:prstGeom>
          <a:noFill/>
        </p:spPr>
        <p:txBody>
          <a:bodyPr wrap="square">
            <a:spAutoFit/>
          </a:bodyPr>
          <a:lstStyle/>
          <a:p>
            <a:pPr>
              <a:defRPr sz="1000">
                <a:solidFill>
                  <a:srgbClr val="5F6F63"/>
                </a:solidFill>
              </a:defRPr>
            </a:pPr>
            <a:r>
              <a:t>📱 Activity logging form with transport, el...</a:t>
            </a:r>
          </a:p>
        </p:txBody>
      </p:sp>
      <p:sp>
        <p:nvSpPr>
          <p:cNvPr id="8" name="TextBox 7"/>
          <p:cNvSpPr txBox="1"/>
          <p:nvPr/>
        </p:nvSpPr>
        <p:spPr>
          <a:xfrm>
            <a:off x="8412480" y="9326880"/>
            <a:ext cx="457200" cy="365760"/>
          </a:xfrm>
          <a:prstGeom prst="rect">
            <a:avLst/>
          </a:prstGeom>
          <a:noFill/>
        </p:spPr>
        <p:txBody>
          <a:bodyPr wrap="none">
            <a:spAutoFit/>
          </a:bodyPr>
          <a:lstStyle/>
          <a:p>
            <a:pPr algn="r">
              <a:defRPr sz="1000">
                <a:solidFill>
                  <a:srgbClr val="5F6F63"/>
                </a:solidFill>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3"/>
        </a:solidFill>
        <a:effectLst/>
      </p:bgPr>
    </p:bg>
    <p:spTree>
      <p:nvGrpSpPr>
        <p:cNvPr id="1" name=""/>
        <p:cNvGrpSpPr/>
        <p:nvPr/>
      </p:nvGrpSpPr>
      <p:grpSpPr/>
      <p:sp>
        <p:nvSpPr>
          <p:cNvPr id="2" name="Rectangle 1"/>
          <p:cNvSpPr/>
          <p:nvPr/>
        </p:nvSpPr>
        <p:spPr>
          <a:xfrm>
            <a:off x="457200" y="274320"/>
            <a:ext cx="8229600" cy="1097280"/>
          </a:xfrm>
          <a:prstGeom prst="rect">
            <a:avLst/>
          </a:prstGeom>
          <a:solidFill>
            <a:srgbClr val="1F5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772400" cy="822960"/>
          </a:xfrm>
          <a:prstGeom prst="rect">
            <a:avLst/>
          </a:prstGeom>
          <a:noFill/>
        </p:spPr>
        <p:txBody>
          <a:bodyPr wrap="square">
            <a:spAutoFit/>
          </a:bodyPr>
          <a:lstStyle/>
          <a:p>
            <a:pPr>
              <a:defRPr sz="2800" b="1">
                <a:solidFill>
                  <a:srgbClr val="FFFFFF"/>
                </a:solidFill>
              </a:defRPr>
            </a:pPr>
            <a:r>
              <a:t>Hasil &amp; Laporan</a:t>
            </a:r>
          </a:p>
        </p:txBody>
      </p:sp>
      <p:sp>
        <p:nvSpPr>
          <p:cNvPr id="4" name="Rectangle 3"/>
          <p:cNvSpPr/>
          <p:nvPr/>
        </p:nvSpPr>
        <p:spPr>
          <a:xfrm>
            <a:off x="640080" y="1280160"/>
            <a:ext cx="1371600" cy="54864"/>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8229600" cy="1371600"/>
          </a:xfrm>
          <a:prstGeom prst="rect">
            <a:avLst/>
          </a:prstGeom>
          <a:noFill/>
        </p:spPr>
        <p:txBody>
          <a:bodyPr wrap="square">
            <a:spAutoFit/>
          </a:bodyPr>
          <a:lstStyle/>
          <a:p>
            <a:pPr>
              <a:defRPr sz="1600" i="1">
                <a:solidFill>
                  <a:srgbClr val="5F6F63"/>
                </a:solidFill>
              </a:defRPr>
            </a:pPr>
            <a:r>
              <a:t>Tampilan hasil setelah mencatat aktivitas: ringkasan CO2e yang dihasilkan dan saran perbaikan.</a:t>
            </a:r>
          </a:p>
        </p:txBody>
      </p:sp>
      <p:sp>
        <p:nvSpPr>
          <p:cNvPr id="6" name="Rounded Rectangle 5"/>
          <p:cNvSpPr/>
          <p:nvPr/>
        </p:nvSpPr>
        <p:spPr>
          <a:xfrm>
            <a:off x="640080" y="3108960"/>
            <a:ext cx="2377440" cy="1645920"/>
          </a:xfrm>
          <a:prstGeom prst="roundRect">
            <a:avLst/>
          </a:prstGeom>
          <a:solidFill>
            <a:srgbClr val="FFFFFF"/>
          </a:solidFill>
          <a:ln w="12700">
            <a:solidFill>
              <a:srgbClr val="E5EA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200400"/>
            <a:ext cx="2194560" cy="457200"/>
          </a:xfrm>
          <a:prstGeom prst="rect">
            <a:avLst/>
          </a:prstGeom>
          <a:noFill/>
        </p:spPr>
        <p:txBody>
          <a:bodyPr wrap="square">
            <a:spAutoFit/>
          </a:bodyPr>
          <a:lstStyle/>
          <a:p>
            <a:pPr>
              <a:defRPr sz="1000">
                <a:solidFill>
                  <a:srgbClr val="5F6F63"/>
                </a:solidFill>
              </a:defRPr>
            </a:pPr>
            <a:r>
              <a:t>📱 Result screen showing CO2e summary and i...</a:t>
            </a:r>
          </a:p>
        </p:txBody>
      </p:sp>
      <p:sp>
        <p:nvSpPr>
          <p:cNvPr id="8" name="TextBox 7"/>
          <p:cNvSpPr txBox="1"/>
          <p:nvPr/>
        </p:nvSpPr>
        <p:spPr>
          <a:xfrm>
            <a:off x="8412480" y="9326880"/>
            <a:ext cx="457200" cy="365760"/>
          </a:xfrm>
          <a:prstGeom prst="rect">
            <a:avLst/>
          </a:prstGeom>
          <a:noFill/>
        </p:spPr>
        <p:txBody>
          <a:bodyPr wrap="none">
            <a:spAutoFit/>
          </a:bodyPr>
          <a:lstStyle/>
          <a:p>
            <a:pPr algn="r">
              <a:defRPr sz="1000">
                <a:solidFill>
                  <a:srgbClr val="5F6F63"/>
                </a:solidFill>
              </a:defRPr>
            </a:pPr>
            <a:r>
              <a:t>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3"/>
        </a:solidFill>
        <a:effectLst/>
      </p:bgPr>
    </p:bg>
    <p:spTree>
      <p:nvGrpSpPr>
        <p:cNvPr id="1" name=""/>
        <p:cNvGrpSpPr/>
        <p:nvPr/>
      </p:nvGrpSpPr>
      <p:grpSpPr/>
      <p:sp>
        <p:nvSpPr>
          <p:cNvPr id="2" name="Rectangle 1"/>
          <p:cNvSpPr/>
          <p:nvPr/>
        </p:nvSpPr>
        <p:spPr>
          <a:xfrm>
            <a:off x="457200" y="274320"/>
            <a:ext cx="8229600" cy="1097280"/>
          </a:xfrm>
          <a:prstGeom prst="rect">
            <a:avLst/>
          </a:prstGeom>
          <a:solidFill>
            <a:srgbClr val="1F5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772400" cy="822960"/>
          </a:xfrm>
          <a:prstGeom prst="rect">
            <a:avLst/>
          </a:prstGeom>
          <a:noFill/>
        </p:spPr>
        <p:txBody>
          <a:bodyPr wrap="square">
            <a:spAutoFit/>
          </a:bodyPr>
          <a:lstStyle/>
          <a:p>
            <a:pPr>
              <a:defRPr sz="2800" b="1">
                <a:solidFill>
                  <a:srgbClr val="FFFFFF"/>
                </a:solidFill>
              </a:defRPr>
            </a:pPr>
            <a:r>
              <a:t>Hasil &amp; Laporan</a:t>
            </a:r>
          </a:p>
        </p:txBody>
      </p:sp>
      <p:sp>
        <p:nvSpPr>
          <p:cNvPr id="4" name="Rectangle 3"/>
          <p:cNvSpPr/>
          <p:nvPr/>
        </p:nvSpPr>
        <p:spPr>
          <a:xfrm>
            <a:off x="640080" y="1280160"/>
            <a:ext cx="1371600" cy="54864"/>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8229600" cy="1371600"/>
          </a:xfrm>
          <a:prstGeom prst="rect">
            <a:avLst/>
          </a:prstGeom>
          <a:noFill/>
        </p:spPr>
        <p:txBody>
          <a:bodyPr wrap="square">
            <a:spAutoFit/>
          </a:bodyPr>
          <a:lstStyle/>
          <a:p>
            <a:pPr>
              <a:defRPr sz="1600" i="1">
                <a:solidFill>
                  <a:srgbClr val="5F6F63"/>
                </a:solidFill>
              </a:defRPr>
            </a:pPr>
            <a:r>
              <a:t>Tampilan hasil setelah mencatat aktivitas: ringkasan CO2e yang dihasilkan dan saran perbaikan.</a:t>
            </a:r>
          </a:p>
        </p:txBody>
      </p:sp>
      <p:sp>
        <p:nvSpPr>
          <p:cNvPr id="6" name="Rounded Rectangle 5"/>
          <p:cNvSpPr/>
          <p:nvPr/>
        </p:nvSpPr>
        <p:spPr>
          <a:xfrm>
            <a:off x="640080" y="3108960"/>
            <a:ext cx="2377440" cy="1645920"/>
          </a:xfrm>
          <a:prstGeom prst="roundRect">
            <a:avLst/>
          </a:prstGeom>
          <a:solidFill>
            <a:srgbClr val="FFFFFF"/>
          </a:solidFill>
          <a:ln w="12700">
            <a:solidFill>
              <a:srgbClr val="E5EA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200400"/>
            <a:ext cx="2194560" cy="457200"/>
          </a:xfrm>
          <a:prstGeom prst="rect">
            <a:avLst/>
          </a:prstGeom>
          <a:noFill/>
        </p:spPr>
        <p:txBody>
          <a:bodyPr wrap="square">
            <a:spAutoFit/>
          </a:bodyPr>
          <a:lstStyle/>
          <a:p>
            <a:pPr>
              <a:defRPr sz="1000">
                <a:solidFill>
                  <a:srgbClr val="5F6F63"/>
                </a:solidFill>
              </a:defRPr>
            </a:pPr>
            <a:r>
              <a:t>📱 Result screen showing CO2e summary and i...</a:t>
            </a:r>
          </a:p>
        </p:txBody>
      </p:sp>
      <p:sp>
        <p:nvSpPr>
          <p:cNvPr id="8" name="TextBox 7"/>
          <p:cNvSpPr txBox="1"/>
          <p:nvPr/>
        </p:nvSpPr>
        <p:spPr>
          <a:xfrm>
            <a:off x="8412480" y="9326880"/>
            <a:ext cx="457200" cy="365760"/>
          </a:xfrm>
          <a:prstGeom prst="rect">
            <a:avLst/>
          </a:prstGeom>
          <a:noFill/>
        </p:spPr>
        <p:txBody>
          <a:bodyPr wrap="none">
            <a:spAutoFit/>
          </a:bodyPr>
          <a:lstStyle/>
          <a:p>
            <a:pPr algn="r">
              <a:defRPr sz="1000">
                <a:solidFill>
                  <a:srgbClr val="5F6F63"/>
                </a:solidFill>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3"/>
        </a:solidFill>
        <a:effectLst/>
      </p:bgPr>
    </p:bg>
    <p:spTree>
      <p:nvGrpSpPr>
        <p:cNvPr id="1" name=""/>
        <p:cNvGrpSpPr/>
        <p:nvPr/>
      </p:nvGrpSpPr>
      <p:grpSpPr/>
      <p:sp>
        <p:nvSpPr>
          <p:cNvPr id="2" name="Rectangle 1"/>
          <p:cNvSpPr/>
          <p:nvPr/>
        </p:nvSpPr>
        <p:spPr>
          <a:xfrm>
            <a:off x="457200" y="274320"/>
            <a:ext cx="8229600" cy="1097280"/>
          </a:xfrm>
          <a:prstGeom prst="rect">
            <a:avLst/>
          </a:prstGeom>
          <a:solidFill>
            <a:srgbClr val="1F5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772400" cy="822960"/>
          </a:xfrm>
          <a:prstGeom prst="rect">
            <a:avLst/>
          </a:prstGeom>
          <a:noFill/>
        </p:spPr>
        <p:txBody>
          <a:bodyPr wrap="square">
            <a:spAutoFit/>
          </a:bodyPr>
          <a:lstStyle/>
          <a:p>
            <a:pPr>
              <a:defRPr sz="2800" b="1">
                <a:solidFill>
                  <a:srgbClr val="FFFFFF"/>
                </a:solidFill>
              </a:defRPr>
            </a:pPr>
            <a:r>
              <a:t>Statistik &amp; Grafik</a:t>
            </a:r>
          </a:p>
        </p:txBody>
      </p:sp>
      <p:sp>
        <p:nvSpPr>
          <p:cNvPr id="4" name="Rectangle 3"/>
          <p:cNvSpPr/>
          <p:nvPr/>
        </p:nvSpPr>
        <p:spPr>
          <a:xfrm>
            <a:off x="640080" y="1280160"/>
            <a:ext cx="1371600" cy="54864"/>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8229600" cy="1371600"/>
          </a:xfrm>
          <a:prstGeom prst="rect">
            <a:avLst/>
          </a:prstGeom>
          <a:noFill/>
        </p:spPr>
        <p:txBody>
          <a:bodyPr wrap="square">
            <a:spAutoFit/>
          </a:bodyPr>
          <a:lstStyle/>
          <a:p>
            <a:pPr>
              <a:defRPr sz="1600" i="1">
                <a:solidFill>
                  <a:srgbClr val="5F6F63"/>
                </a:solidFill>
              </a:defRPr>
            </a:pPr>
            <a:r>
              <a:t>Visualisasi data mingguan dan harian: grafik batang, tren emisi, perbandingan mingguan.</a:t>
            </a:r>
          </a:p>
        </p:txBody>
      </p:sp>
      <p:sp>
        <p:nvSpPr>
          <p:cNvPr id="6" name="Rounded Rectangle 5"/>
          <p:cNvSpPr/>
          <p:nvPr/>
        </p:nvSpPr>
        <p:spPr>
          <a:xfrm>
            <a:off x="640080" y="3108960"/>
            <a:ext cx="2377440" cy="1645920"/>
          </a:xfrm>
          <a:prstGeom prst="roundRect">
            <a:avLst/>
          </a:prstGeom>
          <a:solidFill>
            <a:srgbClr val="FFFFFF"/>
          </a:solidFill>
          <a:ln w="12700">
            <a:solidFill>
              <a:srgbClr val="E5EA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200400"/>
            <a:ext cx="2194560" cy="457200"/>
          </a:xfrm>
          <a:prstGeom prst="rect">
            <a:avLst/>
          </a:prstGeom>
          <a:noFill/>
        </p:spPr>
        <p:txBody>
          <a:bodyPr wrap="square">
            <a:spAutoFit/>
          </a:bodyPr>
          <a:lstStyle/>
          <a:p>
            <a:pPr>
              <a:defRPr sz="1000">
                <a:solidFill>
                  <a:srgbClr val="5F6F63"/>
                </a:solidFill>
              </a:defRPr>
            </a:pPr>
            <a:r>
              <a:t>📱 Statistics page with weekly/daily charts...</a:t>
            </a:r>
          </a:p>
        </p:txBody>
      </p:sp>
      <p:sp>
        <p:nvSpPr>
          <p:cNvPr id="8" name="TextBox 7"/>
          <p:cNvSpPr txBox="1"/>
          <p:nvPr/>
        </p:nvSpPr>
        <p:spPr>
          <a:xfrm>
            <a:off x="8412480" y="9326880"/>
            <a:ext cx="457200" cy="365760"/>
          </a:xfrm>
          <a:prstGeom prst="rect">
            <a:avLst/>
          </a:prstGeom>
          <a:noFill/>
        </p:spPr>
        <p:txBody>
          <a:bodyPr wrap="none">
            <a:spAutoFit/>
          </a:bodyPr>
          <a:lstStyle/>
          <a:p>
            <a:pPr algn="r">
              <a:defRPr sz="1000">
                <a:solidFill>
                  <a:srgbClr val="5F6F63"/>
                </a:solidFill>
              </a:defRPr>
            </a:pPr>
            <a:r>
              <a:t>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3"/>
        </a:solidFill>
        <a:effectLst/>
      </p:bgPr>
    </p:bg>
    <p:spTree>
      <p:nvGrpSpPr>
        <p:cNvPr id="1" name=""/>
        <p:cNvGrpSpPr/>
        <p:nvPr/>
      </p:nvGrpSpPr>
      <p:grpSpPr/>
      <p:sp>
        <p:nvSpPr>
          <p:cNvPr id="2" name="Rectangle 1"/>
          <p:cNvSpPr/>
          <p:nvPr/>
        </p:nvSpPr>
        <p:spPr>
          <a:xfrm>
            <a:off x="457200" y="274320"/>
            <a:ext cx="8229600" cy="1097280"/>
          </a:xfrm>
          <a:prstGeom prst="rect">
            <a:avLst/>
          </a:prstGeom>
          <a:solidFill>
            <a:srgbClr val="1F5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772400" cy="822960"/>
          </a:xfrm>
          <a:prstGeom prst="rect">
            <a:avLst/>
          </a:prstGeom>
          <a:noFill/>
        </p:spPr>
        <p:txBody>
          <a:bodyPr wrap="square">
            <a:spAutoFit/>
          </a:bodyPr>
          <a:lstStyle/>
          <a:p>
            <a:pPr>
              <a:defRPr sz="2800" b="1">
                <a:solidFill>
                  <a:srgbClr val="FFFFFF"/>
                </a:solidFill>
              </a:defRPr>
            </a:pPr>
            <a:r>
              <a:t>Statistik &amp; Grafik</a:t>
            </a:r>
          </a:p>
        </p:txBody>
      </p:sp>
      <p:sp>
        <p:nvSpPr>
          <p:cNvPr id="4" name="Rectangle 3"/>
          <p:cNvSpPr/>
          <p:nvPr/>
        </p:nvSpPr>
        <p:spPr>
          <a:xfrm>
            <a:off x="640080" y="1280160"/>
            <a:ext cx="1371600" cy="54864"/>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8229600" cy="1371600"/>
          </a:xfrm>
          <a:prstGeom prst="rect">
            <a:avLst/>
          </a:prstGeom>
          <a:noFill/>
        </p:spPr>
        <p:txBody>
          <a:bodyPr wrap="square">
            <a:spAutoFit/>
          </a:bodyPr>
          <a:lstStyle/>
          <a:p>
            <a:pPr>
              <a:defRPr sz="1600" i="1">
                <a:solidFill>
                  <a:srgbClr val="5F6F63"/>
                </a:solidFill>
              </a:defRPr>
            </a:pPr>
            <a:r>
              <a:t>Visualisasi data mingguan dan harian: grafik batang, tren emisi, perbandingan mingguan.</a:t>
            </a:r>
          </a:p>
        </p:txBody>
      </p:sp>
      <p:sp>
        <p:nvSpPr>
          <p:cNvPr id="6" name="Rounded Rectangle 5"/>
          <p:cNvSpPr/>
          <p:nvPr/>
        </p:nvSpPr>
        <p:spPr>
          <a:xfrm>
            <a:off x="640080" y="3108960"/>
            <a:ext cx="2377440" cy="1645920"/>
          </a:xfrm>
          <a:prstGeom prst="roundRect">
            <a:avLst/>
          </a:prstGeom>
          <a:solidFill>
            <a:srgbClr val="FFFFFF"/>
          </a:solidFill>
          <a:ln w="12700">
            <a:solidFill>
              <a:srgbClr val="E5EA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200400"/>
            <a:ext cx="2194560" cy="457200"/>
          </a:xfrm>
          <a:prstGeom prst="rect">
            <a:avLst/>
          </a:prstGeom>
          <a:noFill/>
        </p:spPr>
        <p:txBody>
          <a:bodyPr wrap="square">
            <a:spAutoFit/>
          </a:bodyPr>
          <a:lstStyle/>
          <a:p>
            <a:pPr>
              <a:defRPr sz="1000">
                <a:solidFill>
                  <a:srgbClr val="5F6F63"/>
                </a:solidFill>
              </a:defRPr>
            </a:pPr>
            <a:r>
              <a:t>📱 Statistics page with weekly/daily charts...</a:t>
            </a:r>
          </a:p>
        </p:txBody>
      </p:sp>
      <p:sp>
        <p:nvSpPr>
          <p:cNvPr id="8" name="TextBox 7"/>
          <p:cNvSpPr txBox="1"/>
          <p:nvPr/>
        </p:nvSpPr>
        <p:spPr>
          <a:xfrm>
            <a:off x="8412480" y="9326880"/>
            <a:ext cx="457200" cy="365760"/>
          </a:xfrm>
          <a:prstGeom prst="rect">
            <a:avLst/>
          </a:prstGeom>
          <a:noFill/>
        </p:spPr>
        <p:txBody>
          <a:bodyPr wrap="none">
            <a:spAutoFit/>
          </a:bodyPr>
          <a:lstStyle/>
          <a:p>
            <a:pPr algn="r">
              <a:defRPr sz="1000">
                <a:solidFill>
                  <a:srgbClr val="5F6F63"/>
                </a:solidFill>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3"/>
        </a:solidFill>
        <a:effectLst/>
      </p:bgPr>
    </p:bg>
    <p:spTree>
      <p:nvGrpSpPr>
        <p:cNvPr id="1" name=""/>
        <p:cNvGrpSpPr/>
        <p:nvPr/>
      </p:nvGrpSpPr>
      <p:grpSpPr/>
      <p:sp>
        <p:nvSpPr>
          <p:cNvPr id="2" name="Rectangle 1"/>
          <p:cNvSpPr/>
          <p:nvPr/>
        </p:nvSpPr>
        <p:spPr>
          <a:xfrm>
            <a:off x="457200" y="274320"/>
            <a:ext cx="8229600" cy="1097280"/>
          </a:xfrm>
          <a:prstGeom prst="rect">
            <a:avLst/>
          </a:prstGeom>
          <a:solidFill>
            <a:srgbClr val="1F5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772400" cy="822960"/>
          </a:xfrm>
          <a:prstGeom prst="rect">
            <a:avLst/>
          </a:prstGeom>
          <a:noFill/>
        </p:spPr>
        <p:txBody>
          <a:bodyPr wrap="square">
            <a:spAutoFit/>
          </a:bodyPr>
          <a:lstStyle/>
          <a:p>
            <a:pPr>
              <a:defRPr sz="2800" b="1">
                <a:solidFill>
                  <a:srgbClr val="FFFFFF"/>
                </a:solidFill>
              </a:defRPr>
            </a:pPr>
            <a:r>
              <a:t>Tantangan Harian</a:t>
            </a:r>
          </a:p>
        </p:txBody>
      </p:sp>
      <p:sp>
        <p:nvSpPr>
          <p:cNvPr id="4" name="Rectangle 3"/>
          <p:cNvSpPr/>
          <p:nvPr/>
        </p:nvSpPr>
        <p:spPr>
          <a:xfrm>
            <a:off x="640080" y="1280160"/>
            <a:ext cx="1371600" cy="54864"/>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8229600" cy="1371600"/>
          </a:xfrm>
          <a:prstGeom prst="rect">
            <a:avLst/>
          </a:prstGeom>
          <a:noFill/>
        </p:spPr>
        <p:txBody>
          <a:bodyPr wrap="square">
            <a:spAutoFit/>
          </a:bodyPr>
          <a:lstStyle/>
          <a:p>
            <a:pPr>
              <a:defRPr sz="1600" i="1">
                <a:solidFill>
                  <a:srgbClr val="5F6F63"/>
                </a:solidFill>
              </a:defRPr>
            </a:pPr>
            <a:r>
              <a:t>Daftar tantangan harian dengan badge status (active, claimable, claimed). Progres bar dan reward poin.</a:t>
            </a:r>
          </a:p>
        </p:txBody>
      </p:sp>
      <p:sp>
        <p:nvSpPr>
          <p:cNvPr id="6" name="Rounded Rectangle 5"/>
          <p:cNvSpPr/>
          <p:nvPr/>
        </p:nvSpPr>
        <p:spPr>
          <a:xfrm>
            <a:off x="640080" y="3108960"/>
            <a:ext cx="2377440" cy="1645920"/>
          </a:xfrm>
          <a:prstGeom prst="roundRect">
            <a:avLst/>
          </a:prstGeom>
          <a:solidFill>
            <a:srgbClr val="FFFFFF"/>
          </a:solidFill>
          <a:ln w="12700">
            <a:solidFill>
              <a:srgbClr val="E5EA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200400"/>
            <a:ext cx="2194560" cy="457200"/>
          </a:xfrm>
          <a:prstGeom prst="rect">
            <a:avLst/>
          </a:prstGeom>
          <a:noFill/>
        </p:spPr>
        <p:txBody>
          <a:bodyPr wrap="square">
            <a:spAutoFit/>
          </a:bodyPr>
          <a:lstStyle/>
          <a:p>
            <a:pPr>
              <a:defRPr sz="1000">
                <a:solidFill>
                  <a:srgbClr val="5F6F63"/>
                </a:solidFill>
              </a:defRPr>
            </a:pPr>
            <a:r>
              <a:t>📱 Challenges screen with daily challenges,...</a:t>
            </a:r>
          </a:p>
        </p:txBody>
      </p:sp>
      <p:sp>
        <p:nvSpPr>
          <p:cNvPr id="8" name="TextBox 7"/>
          <p:cNvSpPr txBox="1"/>
          <p:nvPr/>
        </p:nvSpPr>
        <p:spPr>
          <a:xfrm>
            <a:off x="8412480" y="9326880"/>
            <a:ext cx="457200" cy="365760"/>
          </a:xfrm>
          <a:prstGeom prst="rect">
            <a:avLst/>
          </a:prstGeom>
          <a:noFill/>
        </p:spPr>
        <p:txBody>
          <a:bodyPr wrap="none">
            <a:spAutoFit/>
          </a:bodyPr>
          <a:lstStyle/>
          <a:p>
            <a:pPr algn="r">
              <a:defRPr sz="1000">
                <a:solidFill>
                  <a:srgbClr val="5F6F63"/>
                </a:solidFill>
              </a:defRPr>
            </a:pPr>
            <a:r>
              <a:t>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3"/>
        </a:solidFill>
        <a:effectLst/>
      </p:bgPr>
    </p:bg>
    <p:spTree>
      <p:nvGrpSpPr>
        <p:cNvPr id="1" name=""/>
        <p:cNvGrpSpPr/>
        <p:nvPr/>
      </p:nvGrpSpPr>
      <p:grpSpPr/>
      <p:sp>
        <p:nvSpPr>
          <p:cNvPr id="2" name="Rectangle 1"/>
          <p:cNvSpPr/>
          <p:nvPr/>
        </p:nvSpPr>
        <p:spPr>
          <a:xfrm>
            <a:off x="457200" y="274320"/>
            <a:ext cx="8229600" cy="1097280"/>
          </a:xfrm>
          <a:prstGeom prst="rect">
            <a:avLst/>
          </a:prstGeom>
          <a:solidFill>
            <a:srgbClr val="1F5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772400" cy="822960"/>
          </a:xfrm>
          <a:prstGeom prst="rect">
            <a:avLst/>
          </a:prstGeom>
          <a:noFill/>
        </p:spPr>
        <p:txBody>
          <a:bodyPr wrap="square">
            <a:spAutoFit/>
          </a:bodyPr>
          <a:lstStyle/>
          <a:p>
            <a:pPr>
              <a:defRPr sz="2800" b="1">
                <a:solidFill>
                  <a:srgbClr val="FFFFFF"/>
                </a:solidFill>
              </a:defRPr>
            </a:pPr>
            <a:r>
              <a:t>Tantangan Harian</a:t>
            </a:r>
          </a:p>
        </p:txBody>
      </p:sp>
      <p:sp>
        <p:nvSpPr>
          <p:cNvPr id="4" name="Rectangle 3"/>
          <p:cNvSpPr/>
          <p:nvPr/>
        </p:nvSpPr>
        <p:spPr>
          <a:xfrm>
            <a:off x="640080" y="1280160"/>
            <a:ext cx="1371600" cy="54864"/>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8229600" cy="1371600"/>
          </a:xfrm>
          <a:prstGeom prst="rect">
            <a:avLst/>
          </a:prstGeom>
          <a:noFill/>
        </p:spPr>
        <p:txBody>
          <a:bodyPr wrap="square">
            <a:spAutoFit/>
          </a:bodyPr>
          <a:lstStyle/>
          <a:p>
            <a:pPr>
              <a:defRPr sz="1600" i="1">
                <a:solidFill>
                  <a:srgbClr val="5F6F63"/>
                </a:solidFill>
              </a:defRPr>
            </a:pPr>
            <a:r>
              <a:t>Daftar tantangan harian dengan badge status (active, claimable, claimed). Progres bar dan reward poin.</a:t>
            </a:r>
          </a:p>
        </p:txBody>
      </p:sp>
      <p:sp>
        <p:nvSpPr>
          <p:cNvPr id="6" name="Rounded Rectangle 5"/>
          <p:cNvSpPr/>
          <p:nvPr/>
        </p:nvSpPr>
        <p:spPr>
          <a:xfrm>
            <a:off x="640080" y="3108960"/>
            <a:ext cx="2377440" cy="1645920"/>
          </a:xfrm>
          <a:prstGeom prst="roundRect">
            <a:avLst/>
          </a:prstGeom>
          <a:solidFill>
            <a:srgbClr val="FFFFFF"/>
          </a:solidFill>
          <a:ln w="12700">
            <a:solidFill>
              <a:srgbClr val="E5EA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200400"/>
            <a:ext cx="2194560" cy="457200"/>
          </a:xfrm>
          <a:prstGeom prst="rect">
            <a:avLst/>
          </a:prstGeom>
          <a:noFill/>
        </p:spPr>
        <p:txBody>
          <a:bodyPr wrap="square">
            <a:spAutoFit/>
          </a:bodyPr>
          <a:lstStyle/>
          <a:p>
            <a:pPr>
              <a:defRPr sz="1000">
                <a:solidFill>
                  <a:srgbClr val="5F6F63"/>
                </a:solidFill>
              </a:defRPr>
            </a:pPr>
            <a:r>
              <a:t>📱 Challenges screen with daily challenges,...</a:t>
            </a:r>
          </a:p>
        </p:txBody>
      </p:sp>
      <p:sp>
        <p:nvSpPr>
          <p:cNvPr id="8" name="TextBox 7"/>
          <p:cNvSpPr txBox="1"/>
          <p:nvPr/>
        </p:nvSpPr>
        <p:spPr>
          <a:xfrm>
            <a:off x="8412480" y="9326880"/>
            <a:ext cx="457200" cy="365760"/>
          </a:xfrm>
          <a:prstGeom prst="rect">
            <a:avLst/>
          </a:prstGeom>
          <a:noFill/>
        </p:spPr>
        <p:txBody>
          <a:bodyPr wrap="none">
            <a:spAutoFit/>
          </a:bodyPr>
          <a:lstStyle/>
          <a:p>
            <a:pPr algn="r">
              <a:defRPr sz="1000">
                <a:solidFill>
                  <a:srgbClr val="5F6F63"/>
                </a:solidFill>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3"/>
        </a:solidFill>
        <a:effectLst/>
      </p:bgPr>
    </p:bg>
    <p:spTree>
      <p:nvGrpSpPr>
        <p:cNvPr id="1" name=""/>
        <p:cNvGrpSpPr/>
        <p:nvPr/>
      </p:nvGrpSpPr>
      <p:grpSpPr/>
      <p:sp>
        <p:nvSpPr>
          <p:cNvPr id="2" name="Rectangle 1"/>
          <p:cNvSpPr/>
          <p:nvPr/>
        </p:nvSpPr>
        <p:spPr>
          <a:xfrm>
            <a:off x="457200" y="274320"/>
            <a:ext cx="8229600" cy="1097280"/>
          </a:xfrm>
          <a:prstGeom prst="rect">
            <a:avLst/>
          </a:prstGeom>
          <a:solidFill>
            <a:srgbClr val="1F5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772400" cy="822960"/>
          </a:xfrm>
          <a:prstGeom prst="rect">
            <a:avLst/>
          </a:prstGeom>
          <a:noFill/>
        </p:spPr>
        <p:txBody>
          <a:bodyPr wrap="square">
            <a:spAutoFit/>
          </a:bodyPr>
          <a:lstStyle/>
          <a:p>
            <a:pPr>
              <a:defRPr sz="2800" b="1">
                <a:solidFill>
                  <a:srgbClr val="FFFFFF"/>
                </a:solidFill>
              </a:defRPr>
            </a:pPr>
            <a:r>
              <a:t>Tips Ekologi</a:t>
            </a:r>
          </a:p>
        </p:txBody>
      </p:sp>
      <p:sp>
        <p:nvSpPr>
          <p:cNvPr id="4" name="Rectangle 3"/>
          <p:cNvSpPr/>
          <p:nvPr/>
        </p:nvSpPr>
        <p:spPr>
          <a:xfrm>
            <a:off x="640080" y="1280160"/>
            <a:ext cx="1371600" cy="54864"/>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8229600" cy="1371600"/>
          </a:xfrm>
          <a:prstGeom prst="rect">
            <a:avLst/>
          </a:prstGeom>
          <a:noFill/>
        </p:spPr>
        <p:txBody>
          <a:bodyPr wrap="square">
            <a:spAutoFit/>
          </a:bodyPr>
          <a:lstStyle/>
          <a:p>
            <a:pPr>
              <a:defRPr sz="1600" i="1">
                <a:solidFill>
                  <a:srgbClr val="5F6F63"/>
                </a:solidFill>
              </a:defRPr>
            </a:pPr>
            <a:r>
              <a:t>Kumpulan tips lingkungan yang relevan dengan filter kategori dan deskripsi 'mengapa ini penting'.</a:t>
            </a:r>
          </a:p>
        </p:txBody>
      </p:sp>
      <p:sp>
        <p:nvSpPr>
          <p:cNvPr id="6" name="Rounded Rectangle 5"/>
          <p:cNvSpPr/>
          <p:nvPr/>
        </p:nvSpPr>
        <p:spPr>
          <a:xfrm>
            <a:off x="640080" y="3108960"/>
            <a:ext cx="2377440" cy="1645920"/>
          </a:xfrm>
          <a:prstGeom prst="roundRect">
            <a:avLst/>
          </a:prstGeom>
          <a:solidFill>
            <a:srgbClr val="FFFFFF"/>
          </a:solidFill>
          <a:ln w="12700">
            <a:solidFill>
              <a:srgbClr val="E5EA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200400"/>
            <a:ext cx="2194560" cy="457200"/>
          </a:xfrm>
          <a:prstGeom prst="rect">
            <a:avLst/>
          </a:prstGeom>
          <a:noFill/>
        </p:spPr>
        <p:txBody>
          <a:bodyPr wrap="square">
            <a:spAutoFit/>
          </a:bodyPr>
          <a:lstStyle/>
          <a:p>
            <a:pPr>
              <a:defRPr sz="1000">
                <a:solidFill>
                  <a:srgbClr val="5F6F63"/>
                </a:solidFill>
              </a:defRPr>
            </a:pPr>
            <a:r>
              <a:t>📱 Tips screen with category filter, expand...</a:t>
            </a:r>
          </a:p>
        </p:txBody>
      </p:sp>
      <p:sp>
        <p:nvSpPr>
          <p:cNvPr id="8" name="TextBox 7"/>
          <p:cNvSpPr txBox="1"/>
          <p:nvPr/>
        </p:nvSpPr>
        <p:spPr>
          <a:xfrm>
            <a:off x="8412480" y="9326880"/>
            <a:ext cx="457200" cy="365760"/>
          </a:xfrm>
          <a:prstGeom prst="rect">
            <a:avLst/>
          </a:prstGeom>
          <a:noFill/>
        </p:spPr>
        <p:txBody>
          <a:bodyPr wrap="none">
            <a:spAutoFit/>
          </a:bodyPr>
          <a:lstStyle/>
          <a:p>
            <a:pPr algn="r">
              <a:defRPr sz="1000">
                <a:solidFill>
                  <a:srgbClr val="5F6F63"/>
                </a:solidFill>
              </a:defRPr>
            </a:pPr>
            <a:r>
              <a:t>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3"/>
        </a:solidFill>
        <a:effectLst/>
      </p:bgPr>
    </p:bg>
    <p:spTree>
      <p:nvGrpSpPr>
        <p:cNvPr id="1" name=""/>
        <p:cNvGrpSpPr/>
        <p:nvPr/>
      </p:nvGrpSpPr>
      <p:grpSpPr/>
      <p:sp>
        <p:nvSpPr>
          <p:cNvPr id="2" name="Rectangle 1"/>
          <p:cNvSpPr/>
          <p:nvPr/>
        </p:nvSpPr>
        <p:spPr>
          <a:xfrm>
            <a:off x="457200" y="274320"/>
            <a:ext cx="8229600" cy="1097280"/>
          </a:xfrm>
          <a:prstGeom prst="rect">
            <a:avLst/>
          </a:prstGeom>
          <a:solidFill>
            <a:srgbClr val="1F5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772400" cy="822960"/>
          </a:xfrm>
          <a:prstGeom prst="rect">
            <a:avLst/>
          </a:prstGeom>
          <a:noFill/>
        </p:spPr>
        <p:txBody>
          <a:bodyPr wrap="square">
            <a:spAutoFit/>
          </a:bodyPr>
          <a:lstStyle/>
          <a:p>
            <a:pPr>
              <a:defRPr sz="2800" b="1">
                <a:solidFill>
                  <a:srgbClr val="FFFFFF"/>
                </a:solidFill>
              </a:defRPr>
            </a:pPr>
            <a:r>
              <a:t>Tips Ekologi</a:t>
            </a:r>
          </a:p>
        </p:txBody>
      </p:sp>
      <p:sp>
        <p:nvSpPr>
          <p:cNvPr id="4" name="Rectangle 3"/>
          <p:cNvSpPr/>
          <p:nvPr/>
        </p:nvSpPr>
        <p:spPr>
          <a:xfrm>
            <a:off x="640080" y="1280160"/>
            <a:ext cx="1371600" cy="54864"/>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8229600" cy="1371600"/>
          </a:xfrm>
          <a:prstGeom prst="rect">
            <a:avLst/>
          </a:prstGeom>
          <a:noFill/>
        </p:spPr>
        <p:txBody>
          <a:bodyPr wrap="square">
            <a:spAutoFit/>
          </a:bodyPr>
          <a:lstStyle/>
          <a:p>
            <a:pPr>
              <a:defRPr sz="1600" i="1">
                <a:solidFill>
                  <a:srgbClr val="5F6F63"/>
                </a:solidFill>
              </a:defRPr>
            </a:pPr>
            <a:r>
              <a:t>Kumpulan tips lingkungan yang relevan dengan filter kategori dan deskripsi 'mengapa ini penting'.</a:t>
            </a:r>
          </a:p>
        </p:txBody>
      </p:sp>
      <p:sp>
        <p:nvSpPr>
          <p:cNvPr id="6" name="Rounded Rectangle 5"/>
          <p:cNvSpPr/>
          <p:nvPr/>
        </p:nvSpPr>
        <p:spPr>
          <a:xfrm>
            <a:off x="640080" y="3108960"/>
            <a:ext cx="2377440" cy="1645920"/>
          </a:xfrm>
          <a:prstGeom prst="roundRect">
            <a:avLst/>
          </a:prstGeom>
          <a:solidFill>
            <a:srgbClr val="FFFFFF"/>
          </a:solidFill>
          <a:ln w="12700">
            <a:solidFill>
              <a:srgbClr val="E5EA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200400"/>
            <a:ext cx="2194560" cy="457200"/>
          </a:xfrm>
          <a:prstGeom prst="rect">
            <a:avLst/>
          </a:prstGeom>
          <a:noFill/>
        </p:spPr>
        <p:txBody>
          <a:bodyPr wrap="square">
            <a:spAutoFit/>
          </a:bodyPr>
          <a:lstStyle/>
          <a:p>
            <a:pPr>
              <a:defRPr sz="1000">
                <a:solidFill>
                  <a:srgbClr val="5F6F63"/>
                </a:solidFill>
              </a:defRPr>
            </a:pPr>
            <a:r>
              <a:t>📱 Tips screen with category filter, expand...</a:t>
            </a:r>
          </a:p>
        </p:txBody>
      </p:sp>
      <p:sp>
        <p:nvSpPr>
          <p:cNvPr id="8" name="TextBox 7"/>
          <p:cNvSpPr txBox="1"/>
          <p:nvPr/>
        </p:nvSpPr>
        <p:spPr>
          <a:xfrm>
            <a:off x="8412480" y="9326880"/>
            <a:ext cx="457200" cy="365760"/>
          </a:xfrm>
          <a:prstGeom prst="rect">
            <a:avLst/>
          </a:prstGeom>
          <a:noFill/>
        </p:spPr>
        <p:txBody>
          <a:bodyPr wrap="none">
            <a:spAutoFit/>
          </a:bodyPr>
          <a:lstStyle/>
          <a:p>
            <a:pPr algn="r">
              <a:defRPr sz="1000">
                <a:solidFill>
                  <a:srgbClr val="5F6F63"/>
                </a:solidFill>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3"/>
        </a:solidFill>
        <a:effectLst/>
      </p:bgPr>
    </p:bg>
    <p:spTree>
      <p:nvGrpSpPr>
        <p:cNvPr id="1" name=""/>
        <p:cNvGrpSpPr/>
        <p:nvPr/>
      </p:nvGrpSpPr>
      <p:grpSpPr/>
      <p:sp>
        <p:nvSpPr>
          <p:cNvPr id="2" name="Rectangle 1"/>
          <p:cNvSpPr/>
          <p:nvPr/>
        </p:nvSpPr>
        <p:spPr>
          <a:xfrm>
            <a:off x="457200" y="274320"/>
            <a:ext cx="8229600" cy="1097280"/>
          </a:xfrm>
          <a:prstGeom prst="rect">
            <a:avLst/>
          </a:prstGeom>
          <a:solidFill>
            <a:srgbClr val="1F5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772400" cy="822960"/>
          </a:xfrm>
          <a:prstGeom prst="rect">
            <a:avLst/>
          </a:prstGeom>
          <a:noFill/>
        </p:spPr>
        <p:txBody>
          <a:bodyPr wrap="square">
            <a:spAutoFit/>
          </a:bodyPr>
          <a:lstStyle/>
          <a:p>
            <a:pPr>
              <a:defRPr sz="2800" b="1">
                <a:solidFill>
                  <a:srgbClr val="FFFFFF"/>
                </a:solidFill>
              </a:defRPr>
            </a:pPr>
            <a:r>
              <a:t>Profil &amp; Pencapaian</a:t>
            </a:r>
          </a:p>
        </p:txBody>
      </p:sp>
      <p:sp>
        <p:nvSpPr>
          <p:cNvPr id="4" name="Rectangle 3"/>
          <p:cNvSpPr/>
          <p:nvPr/>
        </p:nvSpPr>
        <p:spPr>
          <a:xfrm>
            <a:off x="640080" y="1280160"/>
            <a:ext cx="1371600" cy="54864"/>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8229600" cy="1371600"/>
          </a:xfrm>
          <a:prstGeom prst="rect">
            <a:avLst/>
          </a:prstGeom>
          <a:noFill/>
        </p:spPr>
        <p:txBody>
          <a:bodyPr wrap="square">
            <a:spAutoFit/>
          </a:bodyPr>
          <a:lstStyle/>
          <a:p>
            <a:pPr>
              <a:defRPr sz="1600" i="1">
                <a:solidFill>
                  <a:srgbClr val="5F6F63"/>
                </a:solidFill>
              </a:defRPr>
            </a:pPr>
            <a:r>
              <a:t>Tampilan profil pengguna dengan level ring, badge collection, target harian, dan pengaturan.</a:t>
            </a:r>
          </a:p>
        </p:txBody>
      </p:sp>
      <p:sp>
        <p:nvSpPr>
          <p:cNvPr id="6" name="Rounded Rectangle 5"/>
          <p:cNvSpPr/>
          <p:nvPr/>
        </p:nvSpPr>
        <p:spPr>
          <a:xfrm>
            <a:off x="640080" y="3108960"/>
            <a:ext cx="2377440" cy="1645920"/>
          </a:xfrm>
          <a:prstGeom prst="roundRect">
            <a:avLst/>
          </a:prstGeom>
          <a:solidFill>
            <a:srgbClr val="FFFFFF"/>
          </a:solidFill>
          <a:ln w="12700">
            <a:solidFill>
              <a:srgbClr val="E5EA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200400"/>
            <a:ext cx="2194560" cy="457200"/>
          </a:xfrm>
          <a:prstGeom prst="rect">
            <a:avLst/>
          </a:prstGeom>
          <a:noFill/>
        </p:spPr>
        <p:txBody>
          <a:bodyPr wrap="square">
            <a:spAutoFit/>
          </a:bodyPr>
          <a:lstStyle/>
          <a:p>
            <a:pPr>
              <a:defRPr sz="1000">
                <a:solidFill>
                  <a:srgbClr val="5F6F63"/>
                </a:solidFill>
              </a:defRPr>
            </a:pPr>
            <a:r>
              <a:t>📱 Profile screen with level ring, badges, ...</a:t>
            </a:r>
          </a:p>
        </p:txBody>
      </p:sp>
      <p:sp>
        <p:nvSpPr>
          <p:cNvPr id="8" name="TextBox 7"/>
          <p:cNvSpPr txBox="1"/>
          <p:nvPr/>
        </p:nvSpPr>
        <p:spPr>
          <a:xfrm>
            <a:off x="8412480" y="9326880"/>
            <a:ext cx="457200" cy="365760"/>
          </a:xfrm>
          <a:prstGeom prst="rect">
            <a:avLst/>
          </a:prstGeom>
          <a:noFill/>
        </p:spPr>
        <p:txBody>
          <a:bodyPr wrap="none">
            <a:spAutoFit/>
          </a:bodyPr>
          <a:lstStyle/>
          <a:p>
            <a:pPr algn="r">
              <a:defRPr sz="1000">
                <a:solidFill>
                  <a:srgbClr val="5F6F63"/>
                </a:solidFill>
              </a:defRPr>
            </a:pPr>
            <a:r>
              <a:t>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3"/>
        </a:solidFill>
        <a:effectLst/>
      </p:bgPr>
    </p:bg>
    <p:spTree>
      <p:nvGrpSpPr>
        <p:cNvPr id="1" name=""/>
        <p:cNvGrpSpPr/>
        <p:nvPr/>
      </p:nvGrpSpPr>
      <p:grpSpPr/>
      <p:sp>
        <p:nvSpPr>
          <p:cNvPr id="2" name="Rectangle 1"/>
          <p:cNvSpPr/>
          <p:nvPr/>
        </p:nvSpPr>
        <p:spPr>
          <a:xfrm>
            <a:off x="457200" y="274320"/>
            <a:ext cx="8229600" cy="1097280"/>
          </a:xfrm>
          <a:prstGeom prst="rect">
            <a:avLst/>
          </a:prstGeom>
          <a:solidFill>
            <a:srgbClr val="1F5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772400" cy="822960"/>
          </a:xfrm>
          <a:prstGeom prst="rect">
            <a:avLst/>
          </a:prstGeom>
          <a:noFill/>
        </p:spPr>
        <p:txBody>
          <a:bodyPr wrap="square">
            <a:spAutoFit/>
          </a:bodyPr>
          <a:lstStyle/>
          <a:p>
            <a:pPr>
              <a:defRPr sz="2800" b="1">
                <a:solidFill>
                  <a:srgbClr val="FFFFFF"/>
                </a:solidFill>
              </a:defRPr>
            </a:pPr>
            <a:r>
              <a:t>Profil &amp; Pencapaian</a:t>
            </a:r>
          </a:p>
        </p:txBody>
      </p:sp>
      <p:sp>
        <p:nvSpPr>
          <p:cNvPr id="4" name="Rectangle 3"/>
          <p:cNvSpPr/>
          <p:nvPr/>
        </p:nvSpPr>
        <p:spPr>
          <a:xfrm>
            <a:off x="640080" y="1280160"/>
            <a:ext cx="1371600" cy="54864"/>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8229600" cy="1371600"/>
          </a:xfrm>
          <a:prstGeom prst="rect">
            <a:avLst/>
          </a:prstGeom>
          <a:noFill/>
        </p:spPr>
        <p:txBody>
          <a:bodyPr wrap="square">
            <a:spAutoFit/>
          </a:bodyPr>
          <a:lstStyle/>
          <a:p>
            <a:pPr>
              <a:defRPr sz="1600" i="1">
                <a:solidFill>
                  <a:srgbClr val="5F6F63"/>
                </a:solidFill>
              </a:defRPr>
            </a:pPr>
            <a:r>
              <a:t>Tampilan profil pengguna dengan level ring, badge collection, target harian, dan pengaturan.</a:t>
            </a:r>
          </a:p>
        </p:txBody>
      </p:sp>
      <p:sp>
        <p:nvSpPr>
          <p:cNvPr id="6" name="Rounded Rectangle 5"/>
          <p:cNvSpPr/>
          <p:nvPr/>
        </p:nvSpPr>
        <p:spPr>
          <a:xfrm>
            <a:off x="640080" y="3108960"/>
            <a:ext cx="2377440" cy="1645920"/>
          </a:xfrm>
          <a:prstGeom prst="roundRect">
            <a:avLst/>
          </a:prstGeom>
          <a:solidFill>
            <a:srgbClr val="FFFFFF"/>
          </a:solidFill>
          <a:ln w="12700">
            <a:solidFill>
              <a:srgbClr val="E5EA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200400"/>
            <a:ext cx="2194560" cy="457200"/>
          </a:xfrm>
          <a:prstGeom prst="rect">
            <a:avLst/>
          </a:prstGeom>
          <a:noFill/>
        </p:spPr>
        <p:txBody>
          <a:bodyPr wrap="square">
            <a:spAutoFit/>
          </a:bodyPr>
          <a:lstStyle/>
          <a:p>
            <a:pPr>
              <a:defRPr sz="1000">
                <a:solidFill>
                  <a:srgbClr val="5F6F63"/>
                </a:solidFill>
              </a:defRPr>
            </a:pPr>
            <a:r>
              <a:t>📱 Profile screen with level ring, badges, ...</a:t>
            </a:r>
          </a:p>
        </p:txBody>
      </p:sp>
      <p:sp>
        <p:nvSpPr>
          <p:cNvPr id="8" name="TextBox 7"/>
          <p:cNvSpPr txBox="1"/>
          <p:nvPr/>
        </p:nvSpPr>
        <p:spPr>
          <a:xfrm>
            <a:off x="8412480" y="9326880"/>
            <a:ext cx="457200" cy="365760"/>
          </a:xfrm>
          <a:prstGeom prst="rect">
            <a:avLst/>
          </a:prstGeom>
          <a:noFill/>
        </p:spPr>
        <p:txBody>
          <a:bodyPr wrap="none">
            <a:spAutoFit/>
          </a:bodyPr>
          <a:lstStyle/>
          <a:p>
            <a:pPr algn="r">
              <a:defRPr sz="1000">
                <a:solidFill>
                  <a:srgbClr val="5F6F63"/>
                </a:solidFill>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3"/>
        </a:solidFill>
        <a:effectLst/>
      </p:bgPr>
    </p:bg>
    <p:spTree>
      <p:nvGrpSpPr>
        <p:cNvPr id="1" name=""/>
        <p:cNvGrpSpPr/>
        <p:nvPr/>
      </p:nvGrpSpPr>
      <p:grpSpPr/>
      <p:sp>
        <p:nvSpPr>
          <p:cNvPr id="2" name="Rectangle 1"/>
          <p:cNvSpPr/>
          <p:nvPr/>
        </p:nvSpPr>
        <p:spPr>
          <a:xfrm>
            <a:off x="457200" y="274320"/>
            <a:ext cx="8229600" cy="1097280"/>
          </a:xfrm>
          <a:prstGeom prst="rect">
            <a:avLst/>
          </a:prstGeom>
          <a:solidFill>
            <a:srgbClr val="1F5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772400" cy="822960"/>
          </a:xfrm>
          <a:prstGeom prst="rect">
            <a:avLst/>
          </a:prstGeom>
          <a:noFill/>
        </p:spPr>
        <p:txBody>
          <a:bodyPr wrap="square">
            <a:spAutoFit/>
          </a:bodyPr>
          <a:lstStyle/>
          <a:p>
            <a:pPr>
              <a:defRPr sz="2800" b="1">
                <a:solidFill>
                  <a:srgbClr val="FFFFFF"/>
                </a:solidFill>
              </a:defRPr>
            </a:pPr>
            <a:r>
              <a:t>Badge &amp; Level</a:t>
            </a:r>
          </a:p>
        </p:txBody>
      </p:sp>
      <p:sp>
        <p:nvSpPr>
          <p:cNvPr id="4" name="Rectangle 3"/>
          <p:cNvSpPr/>
          <p:nvPr/>
        </p:nvSpPr>
        <p:spPr>
          <a:xfrm>
            <a:off x="640080" y="1280160"/>
            <a:ext cx="1371600" cy="54864"/>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8229600" cy="1371600"/>
          </a:xfrm>
          <a:prstGeom prst="rect">
            <a:avLst/>
          </a:prstGeom>
          <a:noFill/>
        </p:spPr>
        <p:txBody>
          <a:bodyPr wrap="square">
            <a:spAutoFit/>
          </a:bodyPr>
          <a:lstStyle/>
          <a:p>
            <a:pPr>
              <a:defRPr sz="1600" i="1">
                <a:solidFill>
                  <a:srgbClr val="5F6F63"/>
                </a:solidFill>
              </a:defRPr>
            </a:pPr>
            <a:r>
              <a:t>Detail badge yang dikumpulkan dan progress menuju level berikutnya. Sistem gamifikasi yang memotivasi.</a:t>
            </a:r>
          </a:p>
        </p:txBody>
      </p:sp>
      <p:sp>
        <p:nvSpPr>
          <p:cNvPr id="6" name="Rounded Rectangle 5"/>
          <p:cNvSpPr/>
          <p:nvPr/>
        </p:nvSpPr>
        <p:spPr>
          <a:xfrm>
            <a:off x="640080" y="3108960"/>
            <a:ext cx="2377440" cy="1645920"/>
          </a:xfrm>
          <a:prstGeom prst="roundRect">
            <a:avLst/>
          </a:prstGeom>
          <a:solidFill>
            <a:srgbClr val="FFFFFF"/>
          </a:solidFill>
          <a:ln w="12700">
            <a:solidFill>
              <a:srgbClr val="E5EA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200400"/>
            <a:ext cx="2194560" cy="457200"/>
          </a:xfrm>
          <a:prstGeom prst="rect">
            <a:avLst/>
          </a:prstGeom>
          <a:noFill/>
        </p:spPr>
        <p:txBody>
          <a:bodyPr wrap="square">
            <a:spAutoFit/>
          </a:bodyPr>
          <a:lstStyle/>
          <a:p>
            <a:pPr>
              <a:defRPr sz="1000">
                <a:solidFill>
                  <a:srgbClr val="5F6F63"/>
                </a:solidFill>
              </a:defRPr>
            </a:pPr>
            <a:r>
              <a:t>📱 Badges collection and level progress sys...</a:t>
            </a:r>
          </a:p>
        </p:txBody>
      </p:sp>
      <p:sp>
        <p:nvSpPr>
          <p:cNvPr id="8" name="TextBox 7"/>
          <p:cNvSpPr txBox="1"/>
          <p:nvPr/>
        </p:nvSpPr>
        <p:spPr>
          <a:xfrm>
            <a:off x="8412480" y="9326880"/>
            <a:ext cx="457200" cy="365760"/>
          </a:xfrm>
          <a:prstGeom prst="rect">
            <a:avLst/>
          </a:prstGeom>
          <a:noFill/>
        </p:spPr>
        <p:txBody>
          <a:bodyPr wrap="none">
            <a:spAutoFit/>
          </a:bodyPr>
          <a:lstStyle/>
          <a:p>
            <a:pPr algn="r">
              <a:defRPr sz="1000">
                <a:solidFill>
                  <a:srgbClr val="5F6F63"/>
                </a:solidFill>
              </a:defRPr>
            </a:pPr>
            <a:r>
              <a:t>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3"/>
        </a:solidFill>
        <a:effectLst/>
      </p:bgPr>
    </p:bg>
    <p:spTree>
      <p:nvGrpSpPr>
        <p:cNvPr id="1" name=""/>
        <p:cNvGrpSpPr/>
        <p:nvPr/>
      </p:nvGrpSpPr>
      <p:grpSpPr/>
      <p:sp>
        <p:nvSpPr>
          <p:cNvPr id="2" name="Rectangle 1"/>
          <p:cNvSpPr/>
          <p:nvPr/>
        </p:nvSpPr>
        <p:spPr>
          <a:xfrm>
            <a:off x="457200" y="274320"/>
            <a:ext cx="8229600" cy="1097280"/>
          </a:xfrm>
          <a:prstGeom prst="rect">
            <a:avLst/>
          </a:prstGeom>
          <a:solidFill>
            <a:srgbClr val="1F5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772400" cy="822960"/>
          </a:xfrm>
          <a:prstGeom prst="rect">
            <a:avLst/>
          </a:prstGeom>
          <a:noFill/>
        </p:spPr>
        <p:txBody>
          <a:bodyPr wrap="square">
            <a:spAutoFit/>
          </a:bodyPr>
          <a:lstStyle/>
          <a:p>
            <a:pPr>
              <a:defRPr sz="2800" b="1">
                <a:solidFill>
                  <a:srgbClr val="FFFFFF"/>
                </a:solidFill>
              </a:defRPr>
            </a:pPr>
            <a:r>
              <a:t>Badge &amp; Level</a:t>
            </a:r>
          </a:p>
        </p:txBody>
      </p:sp>
      <p:sp>
        <p:nvSpPr>
          <p:cNvPr id="4" name="Rectangle 3"/>
          <p:cNvSpPr/>
          <p:nvPr/>
        </p:nvSpPr>
        <p:spPr>
          <a:xfrm>
            <a:off x="640080" y="1280160"/>
            <a:ext cx="1371600" cy="54864"/>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8229600" cy="1371600"/>
          </a:xfrm>
          <a:prstGeom prst="rect">
            <a:avLst/>
          </a:prstGeom>
          <a:noFill/>
        </p:spPr>
        <p:txBody>
          <a:bodyPr wrap="square">
            <a:spAutoFit/>
          </a:bodyPr>
          <a:lstStyle/>
          <a:p>
            <a:pPr>
              <a:defRPr sz="1600" i="1">
                <a:solidFill>
                  <a:srgbClr val="5F6F63"/>
                </a:solidFill>
              </a:defRPr>
            </a:pPr>
            <a:r>
              <a:t>Detail badge yang dikumpulkan dan progress menuju level berikutnya. Sistem gamifikasi yang memotivasi.</a:t>
            </a:r>
          </a:p>
        </p:txBody>
      </p:sp>
      <p:sp>
        <p:nvSpPr>
          <p:cNvPr id="6" name="Rounded Rectangle 5"/>
          <p:cNvSpPr/>
          <p:nvPr/>
        </p:nvSpPr>
        <p:spPr>
          <a:xfrm>
            <a:off x="640080" y="3108960"/>
            <a:ext cx="2377440" cy="1645920"/>
          </a:xfrm>
          <a:prstGeom prst="roundRect">
            <a:avLst/>
          </a:prstGeom>
          <a:solidFill>
            <a:srgbClr val="FFFFFF"/>
          </a:solidFill>
          <a:ln w="12700">
            <a:solidFill>
              <a:srgbClr val="E5EA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200400"/>
            <a:ext cx="2194560" cy="457200"/>
          </a:xfrm>
          <a:prstGeom prst="rect">
            <a:avLst/>
          </a:prstGeom>
          <a:noFill/>
        </p:spPr>
        <p:txBody>
          <a:bodyPr wrap="square">
            <a:spAutoFit/>
          </a:bodyPr>
          <a:lstStyle/>
          <a:p>
            <a:pPr>
              <a:defRPr sz="1000">
                <a:solidFill>
                  <a:srgbClr val="5F6F63"/>
                </a:solidFill>
              </a:defRPr>
            </a:pPr>
            <a:r>
              <a:t>📱 Badges collection and level progress sys...</a:t>
            </a:r>
          </a:p>
        </p:txBody>
      </p:sp>
      <p:sp>
        <p:nvSpPr>
          <p:cNvPr id="8" name="TextBox 7"/>
          <p:cNvSpPr txBox="1"/>
          <p:nvPr/>
        </p:nvSpPr>
        <p:spPr>
          <a:xfrm>
            <a:off x="8412480" y="9326880"/>
            <a:ext cx="457200" cy="365760"/>
          </a:xfrm>
          <a:prstGeom prst="rect">
            <a:avLst/>
          </a:prstGeom>
          <a:noFill/>
        </p:spPr>
        <p:txBody>
          <a:bodyPr wrap="none">
            <a:spAutoFit/>
          </a:bodyPr>
          <a:lstStyle/>
          <a:p>
            <a:pPr algn="r">
              <a:defRPr sz="1000">
                <a:solidFill>
                  <a:srgbClr val="5F6F63"/>
                </a:solidFill>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3"/>
        </a:solidFill>
        <a:effectLst/>
      </p:bgPr>
    </p:bg>
    <p:spTree>
      <p:nvGrpSpPr>
        <p:cNvPr id="1" name=""/>
        <p:cNvGrpSpPr/>
        <p:nvPr/>
      </p:nvGrpSpPr>
      <p:grpSpPr/>
      <p:sp>
        <p:nvSpPr>
          <p:cNvPr id="2" name="Rectangle 1"/>
          <p:cNvSpPr/>
          <p:nvPr/>
        </p:nvSpPr>
        <p:spPr>
          <a:xfrm>
            <a:off x="457200" y="274320"/>
            <a:ext cx="8229600" cy="1097280"/>
          </a:xfrm>
          <a:prstGeom prst="rect">
            <a:avLst/>
          </a:prstGeom>
          <a:solidFill>
            <a:srgbClr val="1F5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772400" cy="822960"/>
          </a:xfrm>
          <a:prstGeom prst="rect">
            <a:avLst/>
          </a:prstGeom>
          <a:noFill/>
        </p:spPr>
        <p:txBody>
          <a:bodyPr wrap="square">
            <a:spAutoFit/>
          </a:bodyPr>
          <a:lstStyle/>
          <a:p>
            <a:pPr>
              <a:defRPr sz="2800" b="1">
                <a:solidFill>
                  <a:srgbClr val="FFFFFF"/>
                </a:solidFill>
              </a:defRPr>
            </a:pPr>
            <a:r>
              <a:t>Riwayat Aktivitas</a:t>
            </a:r>
          </a:p>
        </p:txBody>
      </p:sp>
      <p:sp>
        <p:nvSpPr>
          <p:cNvPr id="4" name="Rectangle 3"/>
          <p:cNvSpPr/>
          <p:nvPr/>
        </p:nvSpPr>
        <p:spPr>
          <a:xfrm>
            <a:off x="640080" y="1280160"/>
            <a:ext cx="1371600" cy="54864"/>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8229600" cy="1371600"/>
          </a:xfrm>
          <a:prstGeom prst="rect">
            <a:avLst/>
          </a:prstGeom>
          <a:noFill/>
        </p:spPr>
        <p:txBody>
          <a:bodyPr wrap="square">
            <a:spAutoFit/>
          </a:bodyPr>
          <a:lstStyle/>
          <a:p>
            <a:pPr>
              <a:defRPr sz="1600" i="1">
                <a:solidFill>
                  <a:srgbClr val="5F6F63"/>
                </a:solidFill>
              </a:defRPr>
            </a:pPr>
            <a:r>
              <a:t>Riwayat semua aktivitas yang sudah dicatat dengan filter kategori dan tanggal.</a:t>
            </a:r>
          </a:p>
        </p:txBody>
      </p:sp>
      <p:sp>
        <p:nvSpPr>
          <p:cNvPr id="6" name="Rounded Rectangle 5"/>
          <p:cNvSpPr/>
          <p:nvPr/>
        </p:nvSpPr>
        <p:spPr>
          <a:xfrm>
            <a:off x="640080" y="3108960"/>
            <a:ext cx="2377440" cy="1645920"/>
          </a:xfrm>
          <a:prstGeom prst="roundRect">
            <a:avLst/>
          </a:prstGeom>
          <a:solidFill>
            <a:srgbClr val="FFFFFF"/>
          </a:solidFill>
          <a:ln w="12700">
            <a:solidFill>
              <a:srgbClr val="E5EA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200400"/>
            <a:ext cx="2194560" cy="457200"/>
          </a:xfrm>
          <a:prstGeom prst="rect">
            <a:avLst/>
          </a:prstGeom>
          <a:noFill/>
        </p:spPr>
        <p:txBody>
          <a:bodyPr wrap="square">
            <a:spAutoFit/>
          </a:bodyPr>
          <a:lstStyle/>
          <a:p>
            <a:pPr>
              <a:defRPr sz="1000">
                <a:solidFill>
                  <a:srgbClr val="5F6F63"/>
                </a:solidFill>
              </a:defRPr>
            </a:pPr>
            <a:r>
              <a:t>📱 History screen with activity log and cat...</a:t>
            </a:r>
          </a:p>
        </p:txBody>
      </p:sp>
      <p:sp>
        <p:nvSpPr>
          <p:cNvPr id="8" name="TextBox 7"/>
          <p:cNvSpPr txBox="1"/>
          <p:nvPr/>
        </p:nvSpPr>
        <p:spPr>
          <a:xfrm>
            <a:off x="8412480" y="9326880"/>
            <a:ext cx="457200" cy="365760"/>
          </a:xfrm>
          <a:prstGeom prst="rect">
            <a:avLst/>
          </a:prstGeom>
          <a:noFill/>
        </p:spPr>
        <p:txBody>
          <a:bodyPr wrap="none">
            <a:spAutoFit/>
          </a:bodyPr>
          <a:lstStyle/>
          <a:p>
            <a:pPr algn="r">
              <a:defRPr sz="1000">
                <a:solidFill>
                  <a:srgbClr val="5F6F63"/>
                </a:solidFill>
              </a:defRPr>
            </a:pPr>
            <a:r>
              <a:t>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3"/>
        </a:solidFill>
        <a:effectLst/>
      </p:bgPr>
    </p:bg>
    <p:spTree>
      <p:nvGrpSpPr>
        <p:cNvPr id="1" name=""/>
        <p:cNvGrpSpPr/>
        <p:nvPr/>
      </p:nvGrpSpPr>
      <p:grpSpPr/>
      <p:sp>
        <p:nvSpPr>
          <p:cNvPr id="2" name="Rectangle 1"/>
          <p:cNvSpPr/>
          <p:nvPr/>
        </p:nvSpPr>
        <p:spPr>
          <a:xfrm>
            <a:off x="457200" y="274320"/>
            <a:ext cx="8229600" cy="1097280"/>
          </a:xfrm>
          <a:prstGeom prst="rect">
            <a:avLst/>
          </a:prstGeom>
          <a:solidFill>
            <a:srgbClr val="1F5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772400" cy="822960"/>
          </a:xfrm>
          <a:prstGeom prst="rect">
            <a:avLst/>
          </a:prstGeom>
          <a:noFill/>
        </p:spPr>
        <p:txBody>
          <a:bodyPr wrap="square">
            <a:spAutoFit/>
          </a:bodyPr>
          <a:lstStyle/>
          <a:p>
            <a:pPr>
              <a:defRPr sz="2800" b="1">
                <a:solidFill>
                  <a:srgbClr val="FFFFFF"/>
                </a:solidFill>
              </a:defRPr>
            </a:pPr>
            <a:r>
              <a:t>Riwayat Aktivitas</a:t>
            </a:r>
          </a:p>
        </p:txBody>
      </p:sp>
      <p:sp>
        <p:nvSpPr>
          <p:cNvPr id="4" name="Rectangle 3"/>
          <p:cNvSpPr/>
          <p:nvPr/>
        </p:nvSpPr>
        <p:spPr>
          <a:xfrm>
            <a:off x="640080" y="1280160"/>
            <a:ext cx="1371600" cy="54864"/>
          </a:xfrm>
          <a:prstGeom prst="rect">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8229600" cy="1371600"/>
          </a:xfrm>
          <a:prstGeom prst="rect">
            <a:avLst/>
          </a:prstGeom>
          <a:noFill/>
        </p:spPr>
        <p:txBody>
          <a:bodyPr wrap="square">
            <a:spAutoFit/>
          </a:bodyPr>
          <a:lstStyle/>
          <a:p>
            <a:pPr>
              <a:defRPr sz="1600" i="1">
                <a:solidFill>
                  <a:srgbClr val="5F6F63"/>
                </a:solidFill>
              </a:defRPr>
            </a:pPr>
            <a:r>
              <a:t>Riwayat semua aktivitas yang sudah dicatat dengan filter kategori dan tanggal.</a:t>
            </a:r>
          </a:p>
        </p:txBody>
      </p:sp>
      <p:sp>
        <p:nvSpPr>
          <p:cNvPr id="6" name="Rounded Rectangle 5"/>
          <p:cNvSpPr/>
          <p:nvPr/>
        </p:nvSpPr>
        <p:spPr>
          <a:xfrm>
            <a:off x="640080" y="3108960"/>
            <a:ext cx="2377440" cy="1645920"/>
          </a:xfrm>
          <a:prstGeom prst="roundRect">
            <a:avLst/>
          </a:prstGeom>
          <a:solidFill>
            <a:srgbClr val="FFFFFF"/>
          </a:solidFill>
          <a:ln w="12700">
            <a:solidFill>
              <a:srgbClr val="E5EA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200400"/>
            <a:ext cx="2194560" cy="457200"/>
          </a:xfrm>
          <a:prstGeom prst="rect">
            <a:avLst/>
          </a:prstGeom>
          <a:noFill/>
        </p:spPr>
        <p:txBody>
          <a:bodyPr wrap="square">
            <a:spAutoFit/>
          </a:bodyPr>
          <a:lstStyle/>
          <a:p>
            <a:pPr>
              <a:defRPr sz="1000">
                <a:solidFill>
                  <a:srgbClr val="5F6F63"/>
                </a:solidFill>
              </a:defRPr>
            </a:pPr>
            <a:r>
              <a:t>📱 History screen with activity log and cat...</a:t>
            </a:r>
          </a:p>
        </p:txBody>
      </p:sp>
      <p:sp>
        <p:nvSpPr>
          <p:cNvPr id="8" name="TextBox 7"/>
          <p:cNvSpPr txBox="1"/>
          <p:nvPr/>
        </p:nvSpPr>
        <p:spPr>
          <a:xfrm>
            <a:off x="8412480" y="9326880"/>
            <a:ext cx="457200" cy="365760"/>
          </a:xfrm>
          <a:prstGeom prst="rect">
            <a:avLst/>
          </a:prstGeom>
          <a:noFill/>
        </p:spPr>
        <p:txBody>
          <a:bodyPr wrap="none">
            <a:spAutoFit/>
          </a:bodyPr>
          <a:lstStyle/>
          <a:p>
            <a:pPr algn="r">
              <a:defRPr sz="1000">
                <a:solidFill>
                  <a:srgbClr val="5F6F63"/>
                </a:solidFill>
              </a:defRPr>
            </a:pPr>
            <a: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131529FE-93C9-2546-0D0D-4D893C379A0C}"/>
              </a:ext>
            </a:extLst>
          </p:cNvPr>
          <p:cNvSpPr/>
          <p:nvPr/>
        </p:nvSpPr>
        <p:spPr>
          <a:xfrm>
            <a:off x="0" y="0"/>
            <a:ext cx="12188952" cy="6858000"/>
          </a:xfrm>
          <a:prstGeom prst="rect">
            <a:avLst/>
          </a:prstGeom>
          <a:solidFill>
            <a:srgbClr val="16281D"/>
          </a:solidFill>
        </p:spPr>
        <p:txBody>
          <a:bodyPr/>
          <a:lstStyle/>
          <a:p>
            <a:endParaRPr/>
          </a:p>
        </p:txBody>
      </p:sp>
      <p:pic>
        <p:nvPicPr>
          <p:cNvPr id="2097161" name="Picture 2"/>
          <p:cNvPicPr>
            <a:picLocks noChangeAspect="1"/>
          </p:cNvPicPr>
          <p:nvPr/>
        </p:nvPicPr>
        <p:blipFill>
          <a:blip r:embed="rId2"/>
          <a:stretch>
            <a:fillRect/>
          </a:stretch>
        </p:blipFill>
        <p:spPr>
          <a:xfrm>
            <a:off x="0" y="548640"/>
            <a:ext cx="6304801" cy="4345623"/>
          </a:xfrm>
          <a:prstGeom prst="rect">
            <a:avLst/>
          </a:prstGeom>
        </p:spPr>
      </p:pic>
      <p:sp>
        <p:nvSpPr>
          <p:cNvPr id="2097162" name="Rectangle 2097161"/>
          <p:cNvSpPr/>
          <p:nvPr/>
        </p:nvSpPr>
        <p:spPr>
          <a:xfrm>
            <a:off x="0" y="0"/>
            <a:ext cx="9144000" cy="548640"/>
          </a:xfrm>
          <a:prstGeom prst="rect">
            <a:avLst/>
          </a:prstGeom>
          <a:solidFill>
            <a:srgbClr val="4CAF50"/>
          </a:solidFill>
          <a:ln>
            <a:solidFill>
              <a:srgbClr val="4CAF50"/>
            </a:solidFill>
          </a:ln>
        </p:spPr>
        <p:style>
          <a:lnRef idx="1">
            <a:schemeClr val="accent1"/>
          </a:lnRef>
          <a:fillRef idx="3">
            <a:schemeClr val="accent1"/>
          </a:fillRef>
          <a:effectRef idx="2">
            <a:schemeClr val="accent1"/>
          </a:effectRef>
          <a:fontRef idx="minor">
            <a:schemeClr val="lt1"/>
          </a:fontRef>
        </p:style>
        <p:txBody>
          <a:bodyPr wrap="none" lIns="274320" tIns="73152" rtlCol="0" anchor="ctr"/>
          <a:lstStyle/>
          <a:p>
            <a:r>
              <a:rPr lang="en-US" sz="2000" b="1" kern="0" spc="200" dirty="0">
                <a:solidFill>
                  <a:schemeClr val="bg1"/>
                </a:solidFill>
                <a:latin typeface="Calibri" pitchFamily="34" charset="0"/>
                <a:ea typeface="Calibri" pitchFamily="34" charset="-122"/>
                <a:cs typeface="Calibri" pitchFamily="34" charset="-120"/>
              </a:rPr>
              <a:t>GAMBARAN HALAMAN APLIKASI</a:t>
            </a:r>
            <a:endParaRPr lang="en-US" sz="2000" dirty="0">
              <a:solidFill>
                <a:schemeClr val="bg1"/>
              </a:solidFill>
            </a:endParaRPr>
          </a:p>
        </p:txBody>
      </p:sp>
      <p:sp>
        <p:nvSpPr>
          <p:cNvPr id="5" name="Text 40">
            <a:extLst>
              <a:ext uri="{FF2B5EF4-FFF2-40B4-BE49-F238E27FC236}">
                <a16:creationId xmlns:a16="http://schemas.microsoft.com/office/drawing/2014/main" id="{399148AD-CF47-062D-1D1B-4A0B2005A2E6}"/>
              </a:ext>
            </a:extLst>
          </p:cNvPr>
          <p:cNvSpPr txBox="1"/>
          <p:nvPr/>
        </p:nvSpPr>
        <p:spPr>
          <a:xfrm>
            <a:off x="548640" y="6473952"/>
            <a:ext cx="7315200" cy="274320"/>
          </a:xfrm>
          <a:prstGeom prst="rect">
            <a:avLst/>
          </a:prstGeom>
          <a:noFill/>
        </p:spPr>
        <p:txBody>
          <a:bodyPr wrap="square" lIns="0" tIns="0" rIns="0" bIns="0" rtlCol="0" anchor="ctr"/>
          <a:lstStyle/>
          <a:p>
            <a:pPr marL="0" indent="0">
              <a:buNone/>
            </a:pPr>
            <a:r>
              <a:rPr lang="en-US" sz="900" dirty="0">
                <a:solidFill>
                  <a:srgbClr val="5B6B5E"/>
                </a:solidFill>
                <a:latin typeface="Calibri" pitchFamily="34" charset="0"/>
                <a:ea typeface="Calibri" pitchFamily="34" charset="-122"/>
                <a:cs typeface="Calibri" pitchFamily="34" charset="-120"/>
              </a:rPr>
              <a:t>VISTA  •  Proposal Proyek Flutter  •  EcoTrack</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6F8FD08-433F-7A79-A572-DED54787705D}"/>
              </a:ext>
            </a:extLst>
          </p:cNvPr>
          <p:cNvSpPr/>
          <p:nvPr/>
        </p:nvSpPr>
        <p:spPr>
          <a:xfrm>
            <a:off x="0" y="0"/>
            <a:ext cx="12188952" cy="6858000"/>
          </a:xfrm>
          <a:prstGeom prst="rect">
            <a:avLst/>
          </a:prstGeom>
          <a:solidFill>
            <a:srgbClr val="16281D"/>
          </a:solidFill>
        </p:spPr>
        <p:txBody>
          <a:bodyPr/>
          <a:lstStyle/>
          <a:p>
            <a:endParaRPr/>
          </a:p>
        </p:txBody>
      </p:sp>
      <p:pic>
        <p:nvPicPr>
          <p:cNvPr id="2097162" name="Picture 2"/>
          <p:cNvPicPr>
            <a:picLocks noChangeAspect="1"/>
          </p:cNvPicPr>
          <p:nvPr/>
        </p:nvPicPr>
        <p:blipFill>
          <a:blip r:embed="rId2"/>
          <a:stretch>
            <a:fillRect/>
          </a:stretch>
        </p:blipFill>
        <p:spPr>
          <a:xfrm>
            <a:off x="0" y="548640"/>
            <a:ext cx="5143500" cy="4588517"/>
          </a:xfrm>
          <a:prstGeom prst="rect">
            <a:avLst/>
          </a:prstGeom>
        </p:spPr>
      </p:pic>
      <p:sp>
        <p:nvSpPr>
          <p:cNvPr id="2097163" name="Rectangle 2097162"/>
          <p:cNvSpPr/>
          <p:nvPr/>
        </p:nvSpPr>
        <p:spPr>
          <a:xfrm>
            <a:off x="0" y="0"/>
            <a:ext cx="9144000" cy="548640"/>
          </a:xfrm>
          <a:prstGeom prst="rect">
            <a:avLst/>
          </a:prstGeom>
          <a:solidFill>
            <a:srgbClr val="4CAF50"/>
          </a:solidFill>
          <a:ln>
            <a:solidFill>
              <a:srgbClr val="4CAF50"/>
            </a:solidFill>
          </a:ln>
        </p:spPr>
        <p:style>
          <a:lnRef idx="1">
            <a:schemeClr val="accent1"/>
          </a:lnRef>
          <a:fillRef idx="3">
            <a:schemeClr val="accent1"/>
          </a:fillRef>
          <a:effectRef idx="2">
            <a:schemeClr val="accent1"/>
          </a:effectRef>
          <a:fontRef idx="minor">
            <a:schemeClr val="lt1"/>
          </a:fontRef>
        </p:style>
        <p:txBody>
          <a:bodyPr wrap="none" lIns="274320" tIns="73152" rtlCol="0" anchor="ctr"/>
          <a:lstStyle/>
          <a:p>
            <a:r>
              <a:rPr lang="en-US" sz="2000" b="1" kern="0" spc="200" dirty="0">
                <a:solidFill>
                  <a:schemeClr val="bg1"/>
                </a:solidFill>
                <a:latin typeface="Calibri" pitchFamily="34" charset="0"/>
                <a:ea typeface="Calibri" pitchFamily="34" charset="-122"/>
                <a:cs typeface="Calibri" pitchFamily="34" charset="-120"/>
              </a:rPr>
              <a:t>GAMBARAN HALAMAN APLIKASI</a:t>
            </a:r>
            <a:endParaRPr lang="en-US" sz="2000" dirty="0">
              <a:solidFill>
                <a:schemeClr val="bg1"/>
              </a:solidFill>
            </a:endParaRPr>
          </a:p>
        </p:txBody>
      </p:sp>
      <p:sp>
        <p:nvSpPr>
          <p:cNvPr id="5" name="Text 40">
            <a:extLst>
              <a:ext uri="{FF2B5EF4-FFF2-40B4-BE49-F238E27FC236}">
                <a16:creationId xmlns:a16="http://schemas.microsoft.com/office/drawing/2014/main" id="{A8F32387-91EB-D4B6-DC9A-6402F6F43C55}"/>
              </a:ext>
            </a:extLst>
          </p:cNvPr>
          <p:cNvSpPr txBox="1"/>
          <p:nvPr/>
        </p:nvSpPr>
        <p:spPr>
          <a:xfrm>
            <a:off x="548640" y="6473952"/>
            <a:ext cx="7315200" cy="274320"/>
          </a:xfrm>
          <a:prstGeom prst="rect">
            <a:avLst/>
          </a:prstGeom>
          <a:noFill/>
        </p:spPr>
        <p:txBody>
          <a:bodyPr wrap="square" lIns="0" tIns="0" rIns="0" bIns="0" rtlCol="0" anchor="ctr"/>
          <a:lstStyle/>
          <a:p>
            <a:pPr marL="0" indent="0">
              <a:buNone/>
            </a:pPr>
            <a:r>
              <a:rPr lang="en-US" sz="900" dirty="0">
                <a:solidFill>
                  <a:srgbClr val="5B6B5E"/>
                </a:solidFill>
                <a:latin typeface="Calibri" pitchFamily="34" charset="0"/>
                <a:ea typeface="Calibri" pitchFamily="34" charset="-122"/>
                <a:cs typeface="Calibri" pitchFamily="34" charset="-120"/>
              </a:rPr>
              <a:t>VISTA  •  Proposal Proyek Flutter  •  EcoTrack</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b67f60b9-a068-4f25-8b14-7690519f8b74" xsi:nil="true"/>
    <lcf76f155ced4ddcb4097134ff3c332f xmlns="9af5b241-5307-4159-a483-9960eb709b29">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2953333B-F368-4BEE-88FF-370C7A27CB21}">
  <ds:schemaRefs>
    <ds:schemaRef ds:uri="http://schemas.microsoft.com/office/2006/metadata/properties"/>
    <ds:schemaRef ds:uri="http://schemas.microsoft.com/office/infopath/2007/PartnerControls"/>
    <ds:schemaRef ds:uri="b67f60b9-a068-4f25-8b14-7690519f8b74"/>
    <ds:schemaRef ds:uri="9af5b241-5307-4159-a483-9960eb709b29"/>
  </ds:schemaRefs>
</ds:datastoreItem>
</file>

<file path=docProps/app.xml><?xml version="1.0" encoding="utf-8"?>
<Properties xmlns="http://schemas.openxmlformats.org/officeDocument/2006/extended-properties" xmlns:vt="http://schemas.openxmlformats.org/officeDocument/2006/docPropsVTypes">
  <TotalTime>0</TotalTime>
  <Words>697</Words>
  <Application>Microsoft Office PowerPoint</Application>
  <PresentationFormat>Widescreen</PresentationFormat>
  <Paragraphs>145</Paragraphs>
  <Slides>18</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Bookman Old Style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cp:lastModifiedBy>Anggara Adelee</cp:lastModifiedBy>
  <cp:revision>1</cp:revision>
  <dcterms:created xsi:type="dcterms:W3CDTF">2026-09-22T09:11:39Z</dcterms:created>
  <dcterms:modified xsi:type="dcterms:W3CDTF">2026-09-25T19:03:26Z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f41c9f075da24c7ca7619553f69dde7f_23</vt:lpwstr>
  </property>
  <property fmtid="{D5CDD505-2E9C-101B-9397-08002B2CF9AE}" pid="3" name="ContentTypeId">
    <vt:lpwstr>0x010100E49B17399A917A4999DC40B60AF1EF90</vt:lpwstr>
  </property>
  <property fmtid="{D5CDD505-2E9C-101B-9397-08002B2CF9AE}" pid="4" name="MediaServiceImageTags">
    <vt:lpwstr/>
  </property>
</Properties>
</file>